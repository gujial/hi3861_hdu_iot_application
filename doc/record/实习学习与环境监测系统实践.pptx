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击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以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移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动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幻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灯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片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击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编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辑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备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注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格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E379895-1A2E-4775-8E7B-525212BAB4B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成员与分工为可编辑占位项，请在汇报前替换。开发板照片来自仓库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doc/pic/M1.jpg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实习目的概括为专业能力、应用价值、职业素养、工程伦理和团队沟通五个方面。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三个阶段依次对应环境搭建、官方案例与智能红绿灯综合训练、环境监测自主项目。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场景与边界依据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PROJECT_DOCUMENT.md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烧录截图来自仓库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doc/pic/1660634596327.png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测试数量来自当前自动化测试结果。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核心板照片来自仓库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doc/pic/hisaprk_link.jpg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数据链路依据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environment_cloud.c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。异常边沿只执行非阻塞入队，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MQTT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线程负责发布和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QoS 1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完成等待。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架构依据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PROJECT_DOCUMENT.md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与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device/web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源码。立即入队降低普通周期漏报概率，最终通知仍受网络和后端轮询影响。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开发板照片来自仓库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doc/pic/M1.jpg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。设备用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previousAlarmActive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识别正常到异常的边沿，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EnvironmentCloudReportNow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优先保存当前异常样本。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趋势为结构示意，不代表真实测量数据。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先等待设备确认阈值持久化，再保存同一组规则。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18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项自动化测试由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个设备配置测试和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后端测试组成；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333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为当前云端固件构建步骤数。异常立即上报已经通过固件构建，真机时延仍需记录。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本页结合实际开发经历，从技术能力、问题分析、团队表达和工程伦理四个方面总结。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致谢页。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480960"/>
            <a:ext cx="10972080" cy="73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3297960"/>
            <a:ext cx="10972080" cy="5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480960"/>
            <a:ext cx="10972080" cy="73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3297960"/>
            <a:ext cx="10972080" cy="5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543960"/>
            <a:ext cx="1097208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击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以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编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辑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标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题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文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本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格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543960"/>
            <a:ext cx="1097208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击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以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编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辑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标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题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文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本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格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0" y="0"/>
            <a:ext cx="246600" cy="68569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723960" y="819000"/>
            <a:ext cx="7237800" cy="14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375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实习学习总结与</a:t>
            </a:r>
            <a:endParaRPr lang="en-US" sz="3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375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家庭环境监测系统实践</a:t>
            </a:r>
            <a:endParaRPr lang="en-US" sz="3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62120" y="2428920"/>
            <a:ext cx="7237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6EE7B7"/>
                </a:solidFill>
                <a:effectLst/>
                <a:uFillTx/>
                <a:latin typeface="Microsoft JhengHei UI"/>
                <a:ea typeface="Microsoft JhengHei UI"/>
              </a:rPr>
              <a:t>OpenHarmony · Hi3861 · MQTT · </a:t>
            </a:r>
            <a:r>
              <a:rPr lang="zh-CN" sz="1650" b="0" u="none" strike="noStrike">
                <a:solidFill>
                  <a:srgbClr val="6EE7B7"/>
                </a:solidFill>
                <a:effectLst/>
                <a:uFillTx/>
                <a:latin typeface="Microsoft JhengHei UI"/>
                <a:ea typeface="Microsoft JhengHei UI"/>
              </a:rPr>
              <a:t>华为云 </a:t>
            </a:r>
            <a:r>
              <a:rPr lang="en-US" sz="1650" b="0" u="none" strike="noStrike">
                <a:solidFill>
                  <a:srgbClr val="6EE7B7"/>
                </a:solidFill>
                <a:effectLst/>
                <a:uFillTx/>
                <a:latin typeface="Microsoft JhengHei UI"/>
                <a:ea typeface="Microsoft JhengHei UI"/>
              </a:rPr>
              <a:t>IoTDA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8458200" y="457200"/>
            <a:ext cx="3142080" cy="4475520"/>
          </a:xfrm>
          <a:prstGeom prst="roundRect">
            <a:avLst>
              <a:gd name="adj" fmla="val 3636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23960" y="3600000"/>
            <a:ext cx="7085520" cy="2399760"/>
          </a:xfrm>
          <a:prstGeom prst="roundRect">
            <a:avLst>
              <a:gd name="adj" fmla="val 5634"/>
            </a:avLst>
          </a:prstGeom>
          <a:solidFill>
            <a:srgbClr val="102E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Calibri"/>
              </a:rPr>
              <a:t>	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080000" y="3816360"/>
            <a:ext cx="647604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65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成员：古佳乐  乐相宜 张石香 滕汶希 胡永宁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080000" y="4320000"/>
            <a:ext cx="647604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" name=""/>
          <p:cNvGraphicFramePr/>
          <p:nvPr/>
        </p:nvGraphicFramePr>
        <p:xfrm>
          <a:off x="1063080" y="4179960"/>
          <a:ext cx="6316560" cy="1467000"/>
        </p:xfrm>
        <a:graphic>
          <a:graphicData uri="http://schemas.openxmlformats.org/drawingml/2006/table">
            <a:tbl>
              <a:tblPr/>
              <a:tblGrid>
                <a:gridCol w="568800"/>
                <a:gridCol w="5748120"/>
              </a:tblGrid>
              <a:tr h="2934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古佳乐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负责设备端软件开发、各功能模块的集成与联调，以及用户手册的编写。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934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乐相宜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负责需求说明书编写、系统架构与功能设计，以及 </a:t>
                      </a: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Web </a:t>
                      </a:r>
                      <a:r>
                        <a:rPr lang="zh-C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应用开发。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934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张石香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负责项目总结编写及华为云物联网平台的配置与管理。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934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滕汶希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负责用户故事编写、会议记录整理、项目计划制定，以及消息推送平台的部署。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934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胡永宁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负责测试用例的设计、编写与整理。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609480" y="361800"/>
            <a:ext cx="102862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实习目的：从</a:t>
            </a: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技术学习到工</a:t>
            </a: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程责任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11144160" y="428760"/>
            <a:ext cx="5230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609480" y="981000"/>
            <a:ext cx="10972080" cy="277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4809960" y="2714760"/>
            <a:ext cx="2571120" cy="114228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4924440" y="2838600"/>
            <a:ext cx="2342520" cy="93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鸿蒙物联</a:t>
            </a:r>
            <a:r>
              <a:rPr lang="zh-CN" sz="150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网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工程实践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905040" y="1571760"/>
            <a:ext cx="2856960" cy="904320"/>
          </a:xfrm>
          <a:prstGeom prst="roundRect">
            <a:avLst>
              <a:gd name="adj" fmla="val 8421"/>
            </a:avLst>
          </a:prstGeom>
          <a:solidFill>
            <a:srgbClr val="DFF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019160" y="1695600"/>
            <a:ext cx="26283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专</a:t>
            </a: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业</a:t>
            </a: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与</a:t>
            </a: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方</a:t>
            </a: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238560" y="1685880"/>
            <a:ext cx="4280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038240" y="2028960"/>
            <a:ext cx="25711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2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开发技术、调研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2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需求分析与方案设计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8286840" y="1571760"/>
            <a:ext cx="2856960" cy="904320"/>
          </a:xfrm>
          <a:prstGeom prst="roundRect">
            <a:avLst>
              <a:gd name="adj" fmla="val 8421"/>
            </a:avLst>
          </a:prstGeom>
          <a:solidFill>
            <a:srgbClr val="EA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8400960" y="1695600"/>
            <a:ext cx="26283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价值与发展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0620360" y="1685880"/>
            <a:ext cx="4280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8420040" y="2028960"/>
            <a:ext cx="25711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2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理解应用价值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2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绿色、安全、高效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666720" y="4238640"/>
            <a:ext cx="2856960" cy="904320"/>
          </a:xfrm>
          <a:prstGeom prst="roundRect">
            <a:avLst>
              <a:gd name="adj" fmla="val 8421"/>
            </a:avLst>
          </a:prstGeom>
          <a:solidFill>
            <a:srgbClr val="FFF0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781200" y="4362480"/>
            <a:ext cx="26283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实践与素养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3000240" y="4352760"/>
            <a:ext cx="4280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800280" y="4695840"/>
            <a:ext cx="25711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2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提升实操与抗压能力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2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恪守诚信和工程规范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8667720" y="4238640"/>
            <a:ext cx="2856960" cy="904320"/>
          </a:xfrm>
          <a:prstGeom prst="roundRect">
            <a:avLst>
              <a:gd name="adj" fmla="val 8421"/>
            </a:avLst>
          </a:prstGeom>
          <a:solidFill>
            <a:srgbClr val="FDEC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8782200" y="4362480"/>
            <a:ext cx="26283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伦理与责任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1001240" y="4352760"/>
            <a:ext cx="4280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8801280" y="4695840"/>
            <a:ext cx="25711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2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保护公众利益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2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遵循安全规范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4809960" y="5000760"/>
            <a:ext cx="2856960" cy="904320"/>
          </a:xfrm>
          <a:prstGeom prst="roundRect">
            <a:avLst>
              <a:gd name="adj" fmla="val 8421"/>
            </a:avLst>
          </a:prstGeom>
          <a:solidFill>
            <a:srgbClr val="DDE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4924440" y="5124600"/>
            <a:ext cx="26283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协作与表达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7143840" y="5114880"/>
            <a:ext cx="4280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4943520" y="5457960"/>
            <a:ext cx="25711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2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团队沟通、文档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2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汇报、陈述与答疑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609480" y="361800"/>
            <a:ext cx="102862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三阶段实习内容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1144160" y="428760"/>
            <a:ext cx="5230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09480" y="981000"/>
            <a:ext cx="10972080" cy="277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85800" y="1666800"/>
            <a:ext cx="3332880" cy="3332880"/>
          </a:xfrm>
          <a:prstGeom prst="roundRect">
            <a:avLst>
              <a:gd name="adj" fmla="val 2286"/>
            </a:avLst>
          </a:prstGeom>
          <a:solidFill>
            <a:srgbClr val="EA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923760" y="1857240"/>
            <a:ext cx="6660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923760" y="2523960"/>
            <a:ext cx="276156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7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第</a:t>
            </a:r>
            <a:r>
              <a:rPr lang="zh-CN" sz="187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一</a:t>
            </a:r>
            <a:r>
              <a:rPr lang="zh-CN" sz="187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阶</a:t>
            </a:r>
            <a:r>
              <a:rPr lang="zh-CN" sz="187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段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923760" y="3048120"/>
            <a:ext cx="2761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32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环境搭建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923760" y="3762360"/>
            <a:ext cx="276156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开发环境 </a:t>
            </a:r>
            <a:r>
              <a:rPr lang="en-US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· </a:t>
            </a: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工程结构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编译 </a:t>
            </a:r>
            <a:r>
              <a:rPr lang="en-US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· </a:t>
            </a: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烧录 </a:t>
            </a:r>
            <a:r>
              <a:rPr lang="en-US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· </a:t>
            </a: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串口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4038480" y="3000240"/>
            <a:ext cx="39924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→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4448160" y="1666800"/>
            <a:ext cx="3332880" cy="3332880"/>
          </a:xfrm>
          <a:prstGeom prst="roundRect">
            <a:avLst>
              <a:gd name="adj" fmla="val 2286"/>
            </a:avLst>
          </a:prstGeom>
          <a:solidFill>
            <a:srgbClr val="EA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686480" y="1857240"/>
            <a:ext cx="6660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</a:t>
            </a:r>
            <a:r>
              <a:rPr lang="en-US" sz="240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686480" y="2523960"/>
            <a:ext cx="276156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7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第二阶段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686480" y="3048120"/>
            <a:ext cx="2761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32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案例与综合训练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686480" y="3762360"/>
            <a:ext cx="276156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官方案例 </a:t>
            </a:r>
            <a:r>
              <a:rPr lang="en-US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· </a:t>
            </a: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外设驱动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综合项目：智能红绿灯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800840" y="3000240"/>
            <a:ext cx="39924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8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→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8210520" y="1666800"/>
            <a:ext cx="3332880" cy="3332880"/>
          </a:xfrm>
          <a:prstGeom prst="roundRect">
            <a:avLst>
              <a:gd name="adj" fmla="val 2286"/>
            </a:avLst>
          </a:prstGeom>
          <a:solidFill>
            <a:srgbClr val="DFF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8448840" y="1857240"/>
            <a:ext cx="6660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448840" y="2523960"/>
            <a:ext cx="276156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7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第三阶段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8448840" y="3048120"/>
            <a:ext cx="2761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32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自主项目实践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8448840" y="3762360"/>
            <a:ext cx="276156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需求设计 </a:t>
            </a:r>
            <a:r>
              <a:rPr lang="en-US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· </a:t>
            </a: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端云 </a:t>
            </a:r>
            <a:r>
              <a:rPr lang="en-US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Web </a:t>
            </a: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联调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家庭环境监测系统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809720" y="5524560"/>
            <a:ext cx="857196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先建立可复现环境，再通过案例训练，最终完成自主设计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609480" y="361800"/>
            <a:ext cx="102862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实践选题：家庭环境安全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1144160" y="428760"/>
            <a:ext cx="5230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609480" y="981000"/>
            <a:ext cx="10972080" cy="277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619200" y="1380960"/>
            <a:ext cx="7047720" cy="4475880"/>
          </a:xfrm>
          <a:prstGeom prst="roundRect">
            <a:avLst>
              <a:gd name="adj" fmla="val 1702"/>
            </a:avLst>
          </a:prstGeom>
          <a:solidFill>
            <a:srgbClr val="EA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952560" y="1714680"/>
            <a:ext cx="21898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1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家中现场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52560" y="2286000"/>
            <a:ext cx="285696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729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老人或行动不便者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729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无需操作即可听到蜂鸣提示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4476600" y="1714680"/>
            <a:ext cx="21898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1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家人远程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476600" y="2286000"/>
            <a:ext cx="266616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729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手机查看趋势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729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异常时接收 </a:t>
            </a:r>
            <a:r>
              <a:rPr lang="en-US" sz="1729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ntfy </a:t>
            </a:r>
            <a:r>
              <a:rPr lang="zh-CN" sz="1729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通知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952560" y="3666960"/>
            <a:ext cx="6000120" cy="277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52560" y="4000680"/>
            <a:ext cx="15231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65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重点监测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952560" y="4476600"/>
            <a:ext cx="5333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17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温度　湿度　燃气传感器电阻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8096400" y="1380960"/>
            <a:ext cx="3380760" cy="4475880"/>
          </a:xfrm>
          <a:prstGeom prst="roundRect">
            <a:avLst>
              <a:gd name="adj" fmla="val 2254"/>
            </a:avLst>
          </a:prstGeom>
          <a:solidFill>
            <a:srgbClr val="0B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8477280" y="1809720"/>
            <a:ext cx="266616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25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双通道提醒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477280" y="2666880"/>
            <a:ext cx="2571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950" b="1" u="none" strike="noStrike">
                <a:solidFill>
                  <a:srgbClr val="6EE7B7"/>
                </a:solidFill>
                <a:effectLst/>
                <a:uFillTx/>
                <a:latin typeface="Microsoft JhengHei UI"/>
                <a:ea typeface="Microsoft JhengHei UI"/>
              </a:rPr>
              <a:t>现场蜂鸣器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8477280" y="3476520"/>
            <a:ext cx="2571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950" b="1" u="none" strike="noStrike">
                <a:solidFill>
                  <a:srgbClr val="FF9F43"/>
                </a:solidFill>
                <a:effectLst/>
                <a:uFillTx/>
                <a:latin typeface="Microsoft JhengHei UI"/>
                <a:ea typeface="Microsoft JhengHei UI"/>
              </a:rPr>
              <a:t>手机推送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8477280" y="4762440"/>
            <a:ext cx="2571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A9BCD0"/>
                </a:solidFill>
                <a:effectLst/>
                <a:uFillTx/>
                <a:latin typeface="Microsoft JhengHei UI"/>
                <a:ea typeface="Microsoft JhengHei UI"/>
              </a:rPr>
              <a:t>系统用于辅助发现风险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A9BCD0"/>
                </a:solidFill>
                <a:effectLst/>
                <a:uFillTx/>
                <a:latin typeface="Microsoft JhengHei UI"/>
                <a:ea typeface="Microsoft JhengHei UI"/>
              </a:rPr>
              <a:t>不能替代合规消防报警器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609480" y="361800"/>
            <a:ext cx="102862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OpenHarmony </a:t>
            </a: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工程与构建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1144160" y="428760"/>
            <a:ext cx="5230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09480" y="981000"/>
            <a:ext cx="10972080" cy="277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66720" y="1600560"/>
            <a:ext cx="6666840" cy="3846600"/>
          </a:xfrm>
          <a:prstGeom prst="roundRect">
            <a:avLst>
              <a:gd name="adj" fmla="val 2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7905600" y="1476360"/>
            <a:ext cx="28569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02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代码组织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905600" y="2000160"/>
            <a:ext cx="3332880" cy="13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BUILD.gn </a:t>
            </a: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描述目标与依赖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hb </a:t>
            </a: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驱动 </a:t>
            </a: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GN </a:t>
            </a: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和 </a:t>
            </a: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Ninja </a:t>
            </a: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构建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固件烧录后通过串口观察运行状态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905600" y="3828960"/>
            <a:ext cx="856440" cy="589680"/>
          </a:xfrm>
          <a:prstGeom prst="roundRect">
            <a:avLst>
              <a:gd name="adj" fmla="val 12903"/>
            </a:avLst>
          </a:prstGeom>
          <a:solidFill>
            <a:srgbClr val="EA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8020080" y="3952800"/>
            <a:ext cx="6278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源码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9220320" y="3828960"/>
            <a:ext cx="856440" cy="589680"/>
          </a:xfrm>
          <a:prstGeom prst="roundRect">
            <a:avLst>
              <a:gd name="adj" fmla="val 12903"/>
            </a:avLst>
          </a:prstGeom>
          <a:solidFill>
            <a:srgbClr val="DFF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9334440" y="3952800"/>
            <a:ext cx="6278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GN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0534680" y="3828960"/>
            <a:ext cx="856440" cy="589680"/>
          </a:xfrm>
          <a:prstGeom prst="roundRect">
            <a:avLst>
              <a:gd name="adj" fmla="val 12903"/>
            </a:avLst>
          </a:prstGeom>
          <a:solidFill>
            <a:srgbClr val="FFF0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10648800" y="3952800"/>
            <a:ext cx="6278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固件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8" name=""/>
          <p:cNvCxnSpPr>
            <a:stCxn id="96" idx="1"/>
            <a:endCxn id="94" idx="3"/>
          </p:cNvCxnSpPr>
          <p:nvPr/>
        </p:nvCxnSpPr>
        <p:spPr>
          <a:xfrm flipH="1">
            <a:off x="10076760" y="4123800"/>
            <a:ext cx="458280" cy="360"/>
          </a:xfrm>
          <a:prstGeom prst="straightConnector1">
            <a:avLst/>
          </a:prstGeom>
          <a:ln w="28575">
            <a:solidFill>
              <a:srgbClr val="16B7C9"/>
            </a:solidFill>
            <a:round/>
            <a:headEnd len="med" type="arrow" w="med"/>
          </a:ln>
        </p:spPr>
      </p:cxnSp>
      <p:sp>
        <p:nvSpPr>
          <p:cNvPr id="99" name=""/>
          <p:cNvSpPr/>
          <p:nvPr/>
        </p:nvSpPr>
        <p:spPr>
          <a:xfrm>
            <a:off x="7905600" y="4952880"/>
            <a:ext cx="333288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65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理解构建链，才能定位“头文件找不到”和链接失败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609480" y="361800"/>
            <a:ext cx="102862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调试方法与问题定位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1144160" y="428760"/>
            <a:ext cx="5230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09480" y="981000"/>
            <a:ext cx="10972080" cy="277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743040" y="1523880"/>
            <a:ext cx="4946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32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1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628560" y="1476360"/>
            <a:ext cx="608760" cy="608760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619280" y="1504800"/>
            <a:ext cx="21898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7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配置生成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4095720" y="1523880"/>
            <a:ext cx="6857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检查地址、</a:t>
            </a: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Client ID</a:t>
            </a: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、密码格式和 </a:t>
            </a: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CA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905040" y="2114640"/>
            <a:ext cx="37440" cy="551880"/>
          </a:xfrm>
          <a:prstGeom prst="rect">
            <a:avLst/>
          </a:prstGeom>
          <a:solidFill>
            <a:srgbClr val="A9BC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720" tIns="45000" rIns="18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743040" y="2714760"/>
            <a:ext cx="4946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32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2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28560" y="2666880"/>
            <a:ext cx="608760" cy="608760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1619280" y="2695680"/>
            <a:ext cx="21898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7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串口日志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4095720" y="2714760"/>
            <a:ext cx="6857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SCANFINISH / CONNECTED / MQTT </a:t>
            </a: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返回码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905040" y="3305160"/>
            <a:ext cx="37440" cy="551880"/>
          </a:xfrm>
          <a:prstGeom prst="rect">
            <a:avLst/>
          </a:prstGeom>
          <a:solidFill>
            <a:srgbClr val="A9BC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720" tIns="45000" rIns="18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43040" y="3905280"/>
            <a:ext cx="4946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32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3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28560" y="3857760"/>
            <a:ext cx="608760" cy="608760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1619280" y="3886200"/>
            <a:ext cx="21898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7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分层判断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095720" y="3905280"/>
            <a:ext cx="6857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Wi-Fi</a:t>
            </a: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、</a:t>
            </a: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NTP</a:t>
            </a: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、</a:t>
            </a: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TLS</a:t>
            </a: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、</a:t>
            </a: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MQTT </a:t>
            </a: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鉴权逐层排查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905040" y="4495680"/>
            <a:ext cx="37440" cy="551880"/>
          </a:xfrm>
          <a:prstGeom prst="rect">
            <a:avLst/>
          </a:prstGeom>
          <a:solidFill>
            <a:srgbClr val="A9BC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720" tIns="45000" rIns="18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743040" y="5095800"/>
            <a:ext cx="4946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32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4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28560" y="5048280"/>
            <a:ext cx="608760" cy="608760"/>
          </a:xfrm>
          <a:prstGeom prst="roundRect">
            <a:avLst>
              <a:gd name="adj" fmla="val 12500"/>
            </a:avLst>
          </a:prstGeom>
          <a:solidFill>
            <a:srgbClr val="6EE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1619280" y="5076720"/>
            <a:ext cx="21898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7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构建验证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095720" y="5095800"/>
            <a:ext cx="6857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设备测试 </a:t>
            </a: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8 </a:t>
            </a: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项，</a:t>
            </a: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Web </a:t>
            </a: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测试 </a:t>
            </a:r>
            <a:r>
              <a:rPr lang="en-US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10 </a:t>
            </a:r>
            <a:r>
              <a:rPr lang="zh-CN" sz="158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项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>
            <a:off x="609480" y="361800"/>
            <a:ext cx="102862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板级外设协同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1144160" y="428760"/>
            <a:ext cx="5230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609480" y="981000"/>
            <a:ext cx="10972080" cy="277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19200" y="1380960"/>
            <a:ext cx="3904560" cy="4761720"/>
          </a:xfrm>
          <a:prstGeom prst="roundRect">
            <a:avLst>
              <a:gd name="adj" fmla="val 292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7334280" y="2952720"/>
            <a:ext cx="1618560" cy="951840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7448400" y="3076560"/>
            <a:ext cx="138996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Hi3861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5095800" y="1762200"/>
            <a:ext cx="1428120" cy="742320"/>
          </a:xfrm>
          <a:prstGeom prst="roundRect">
            <a:avLst>
              <a:gd name="adj" fmla="val 10256"/>
            </a:avLst>
          </a:prstGeom>
          <a:solidFill>
            <a:srgbClr val="DFF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210280" y="1886040"/>
            <a:ext cx="119952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AHT20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I2C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095800" y="4572000"/>
            <a:ext cx="1428120" cy="742320"/>
          </a:xfrm>
          <a:prstGeom prst="roundRect">
            <a:avLst>
              <a:gd name="adj" fmla="val 10256"/>
            </a:avLst>
          </a:prstGeom>
          <a:solidFill>
            <a:srgbClr val="FFF0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210280" y="4695840"/>
            <a:ext cx="119952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MQ-2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ADC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9810720" y="1762200"/>
            <a:ext cx="1428120" cy="742320"/>
          </a:xfrm>
          <a:prstGeom prst="roundRect">
            <a:avLst>
              <a:gd name="adj" fmla="val 10256"/>
            </a:avLst>
          </a:prstGeom>
          <a:solidFill>
            <a:srgbClr val="EA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9925200" y="1886040"/>
            <a:ext cx="119952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OLED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I2C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9810720" y="4572000"/>
            <a:ext cx="1428120" cy="742320"/>
          </a:xfrm>
          <a:prstGeom prst="roundRect">
            <a:avLst>
              <a:gd name="adj" fmla="val 10256"/>
            </a:avLst>
          </a:prstGeom>
          <a:solidFill>
            <a:srgbClr val="FDEC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9925200" y="4695840"/>
            <a:ext cx="119952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蜂鸣器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PWM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" name=""/>
          <p:cNvCxnSpPr>
            <a:stCxn id="126" idx="1"/>
            <a:endCxn id="128" idx="3"/>
          </p:cNvCxnSpPr>
          <p:nvPr/>
        </p:nvCxnSpPr>
        <p:spPr>
          <a:xfrm flipH="1" flipV="1">
            <a:off x="6523920" y="2133360"/>
            <a:ext cx="810720" cy="1295640"/>
          </a:xfrm>
          <a:prstGeom prst="straightConnector1">
            <a:avLst/>
          </a:prstGeom>
          <a:ln w="28575">
            <a:solidFill>
              <a:srgbClr val="16B7C9"/>
            </a:solidFill>
            <a:round/>
            <a:headEnd len="med" type="arrow" w="med"/>
          </a:ln>
        </p:spPr>
      </p:cxnSp>
      <p:cxnSp>
        <p:nvCxnSpPr>
          <p:cNvPr id="137" name=""/>
          <p:cNvCxnSpPr>
            <a:stCxn id="126" idx="1"/>
            <a:endCxn id="130" idx="3"/>
          </p:cNvCxnSpPr>
          <p:nvPr/>
        </p:nvCxnSpPr>
        <p:spPr>
          <a:xfrm flipH="1">
            <a:off x="6523920" y="3428640"/>
            <a:ext cx="810720" cy="1514880"/>
          </a:xfrm>
          <a:prstGeom prst="straightConnector1">
            <a:avLst/>
          </a:prstGeom>
          <a:ln w="28575">
            <a:solidFill>
              <a:srgbClr val="16B7C9"/>
            </a:solidFill>
            <a:round/>
            <a:headEnd len="med" type="arrow" w="med"/>
          </a:ln>
        </p:spPr>
      </p:cxnSp>
      <p:cxnSp>
        <p:nvCxnSpPr>
          <p:cNvPr id="138" name=""/>
          <p:cNvCxnSpPr>
            <a:stCxn id="132" idx="1"/>
            <a:endCxn id="126" idx="3"/>
          </p:cNvCxnSpPr>
          <p:nvPr/>
        </p:nvCxnSpPr>
        <p:spPr>
          <a:xfrm flipH="1">
            <a:off x="8952840" y="2133360"/>
            <a:ext cx="858240" cy="1295640"/>
          </a:xfrm>
          <a:prstGeom prst="straightConnector1">
            <a:avLst/>
          </a:prstGeom>
          <a:ln w="28575">
            <a:solidFill>
              <a:srgbClr val="16B7C9"/>
            </a:solidFill>
            <a:round/>
            <a:headEnd len="med" type="arrow" w="med"/>
          </a:ln>
        </p:spPr>
      </p:cxnSp>
      <p:cxnSp>
        <p:nvCxnSpPr>
          <p:cNvPr id="139" name=""/>
          <p:cNvCxnSpPr>
            <a:stCxn id="134" idx="1"/>
            <a:endCxn id="126" idx="3"/>
          </p:cNvCxnSpPr>
          <p:nvPr/>
        </p:nvCxnSpPr>
        <p:spPr>
          <a:xfrm flipH="1" flipV="1">
            <a:off x="8952840" y="3428640"/>
            <a:ext cx="858240" cy="1514880"/>
          </a:xfrm>
          <a:prstGeom prst="straightConnector1">
            <a:avLst/>
          </a:prstGeom>
          <a:ln w="28575">
            <a:solidFill>
              <a:srgbClr val="16B7C9"/>
            </a:solidFill>
            <a:round/>
            <a:headEnd len="med" type="arrow" w="med"/>
          </a:ln>
        </p:spPr>
      </p:cxnSp>
      <p:sp>
        <p:nvSpPr>
          <p:cNvPr id="140" name=""/>
          <p:cNvSpPr/>
          <p:nvPr/>
        </p:nvSpPr>
        <p:spPr>
          <a:xfrm>
            <a:off x="5095800" y="5619600"/>
            <a:ext cx="16185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传感器输入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9667800" y="5619600"/>
            <a:ext cx="17139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FF9F43"/>
                </a:solidFill>
                <a:effectLst/>
                <a:uFillTx/>
                <a:latin typeface="Microsoft JhengHei UI"/>
                <a:ea typeface="Microsoft JhengHei UI"/>
              </a:rPr>
              <a:t>执行器输出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>
            <a:off x="609480" y="361800"/>
            <a:ext cx="102862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MQTT </a:t>
            </a: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与云平台连接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11144160" y="428760"/>
            <a:ext cx="5230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609480" y="981000"/>
            <a:ext cx="10972080" cy="277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85800" y="2428920"/>
            <a:ext cx="1618560" cy="856440"/>
          </a:xfrm>
          <a:prstGeom prst="roundRect">
            <a:avLst>
              <a:gd name="adj" fmla="val 8889"/>
            </a:avLst>
          </a:prstGeom>
          <a:solidFill>
            <a:srgbClr val="DFF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800280" y="2552760"/>
            <a:ext cx="138996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设备采集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2762280" y="2428920"/>
            <a:ext cx="1618560" cy="85644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876400" y="2552760"/>
            <a:ext cx="138996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MQTTS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TLS 1.2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4838760" y="2428920"/>
            <a:ext cx="1618560" cy="856440"/>
          </a:xfrm>
          <a:prstGeom prst="roundRect">
            <a:avLst>
              <a:gd name="adj" fmla="val 8889"/>
            </a:avLst>
          </a:prstGeom>
          <a:solidFill>
            <a:srgbClr val="DDE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4952880" y="2552760"/>
            <a:ext cx="138996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华为云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IoTDA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915240" y="2428920"/>
            <a:ext cx="1618560" cy="856440"/>
          </a:xfrm>
          <a:prstGeom prst="roundRect">
            <a:avLst>
              <a:gd name="adj" fmla="val 8889"/>
            </a:avLst>
          </a:prstGeom>
          <a:solidFill>
            <a:srgbClr val="FFF0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7029360" y="2552760"/>
            <a:ext cx="138996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设备影子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8991720" y="2428920"/>
            <a:ext cx="1618560" cy="856440"/>
          </a:xfrm>
          <a:prstGeom prst="roundRect">
            <a:avLst>
              <a:gd name="adj" fmla="val 8889"/>
            </a:avLst>
          </a:prstGeom>
          <a:solidFill>
            <a:srgbClr val="FDEC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9105840" y="2552760"/>
            <a:ext cx="138996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Web </a:t>
            </a:r>
            <a:r>
              <a:rPr lang="zh-CN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后端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5" name=""/>
          <p:cNvCxnSpPr>
            <a:stCxn id="147" idx="1"/>
            <a:endCxn id="145" idx="3"/>
          </p:cNvCxnSpPr>
          <p:nvPr/>
        </p:nvCxnSpPr>
        <p:spPr>
          <a:xfrm flipH="1">
            <a:off x="2304360" y="2857320"/>
            <a:ext cx="458280" cy="360"/>
          </a:xfrm>
          <a:prstGeom prst="straightConnector1">
            <a:avLst/>
          </a:prstGeom>
          <a:ln w="28575">
            <a:solidFill>
              <a:srgbClr val="16B7C9"/>
            </a:solidFill>
            <a:round/>
            <a:headEnd len="med" type="arrow" w="med"/>
          </a:ln>
        </p:spPr>
      </p:cxnSp>
      <p:cxnSp>
        <p:nvCxnSpPr>
          <p:cNvPr id="156" name=""/>
          <p:cNvCxnSpPr>
            <a:stCxn id="149" idx="1"/>
            <a:endCxn id="147" idx="3"/>
          </p:cNvCxnSpPr>
          <p:nvPr/>
        </p:nvCxnSpPr>
        <p:spPr>
          <a:xfrm flipH="1">
            <a:off x="4380840" y="2857320"/>
            <a:ext cx="458280" cy="360"/>
          </a:xfrm>
          <a:prstGeom prst="straightConnector1">
            <a:avLst/>
          </a:prstGeom>
          <a:ln w="28575">
            <a:solidFill>
              <a:srgbClr val="16B7C9"/>
            </a:solidFill>
            <a:round/>
            <a:headEnd len="med" type="arrow" w="med"/>
          </a:ln>
        </p:spPr>
      </p:cxnSp>
      <p:cxnSp>
        <p:nvCxnSpPr>
          <p:cNvPr id="157" name=""/>
          <p:cNvCxnSpPr>
            <a:stCxn id="151" idx="1"/>
            <a:endCxn id="149" idx="3"/>
          </p:cNvCxnSpPr>
          <p:nvPr/>
        </p:nvCxnSpPr>
        <p:spPr>
          <a:xfrm flipH="1">
            <a:off x="6457320" y="2857320"/>
            <a:ext cx="458280" cy="360"/>
          </a:xfrm>
          <a:prstGeom prst="straightConnector1">
            <a:avLst/>
          </a:prstGeom>
          <a:ln w="28575">
            <a:solidFill>
              <a:srgbClr val="16B7C9"/>
            </a:solidFill>
            <a:round/>
            <a:headEnd len="med" type="arrow" w="med"/>
          </a:ln>
        </p:spPr>
      </p:cxnSp>
      <p:cxnSp>
        <p:nvCxnSpPr>
          <p:cNvPr id="158" name=""/>
          <p:cNvCxnSpPr>
            <a:stCxn id="153" idx="1"/>
            <a:endCxn id="151" idx="3"/>
          </p:cNvCxnSpPr>
          <p:nvPr/>
        </p:nvCxnSpPr>
        <p:spPr>
          <a:xfrm flipH="1">
            <a:off x="8533800" y="2857320"/>
            <a:ext cx="458280" cy="360"/>
          </a:xfrm>
          <a:prstGeom prst="straightConnector1">
            <a:avLst/>
          </a:prstGeom>
          <a:ln w="28575">
            <a:solidFill>
              <a:srgbClr val="16B7C9"/>
            </a:solidFill>
            <a:round/>
            <a:headEnd len="med" type="arrow" w="med"/>
          </a:ln>
        </p:spPr>
      </p:cxnSp>
      <p:sp>
        <p:nvSpPr>
          <p:cNvPr id="159" name=""/>
          <p:cNvSpPr/>
          <p:nvPr/>
        </p:nvSpPr>
        <p:spPr>
          <a:xfrm>
            <a:off x="2714760" y="1666800"/>
            <a:ext cx="390456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Client ID + Device ID + </a:t>
            </a:r>
            <a:r>
              <a:rPr lang="zh-CN" sz="158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派生密码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3286080" y="3619440"/>
            <a:ext cx="22852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QoS 1 </a:t>
            </a: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属性上报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85800" y="4429080"/>
            <a:ext cx="43808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65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容量为 </a:t>
            </a:r>
            <a:r>
              <a:rPr lang="en-US" sz="165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1 </a:t>
            </a:r>
            <a:r>
              <a:rPr lang="zh-CN" sz="165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的队列只保留最新读数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5477040" y="4429080"/>
            <a:ext cx="571428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650" b="1" u="none" strike="noStrike">
                <a:solidFill>
                  <a:srgbClr val="E74C3C"/>
                </a:solidFill>
                <a:effectLst/>
                <a:uFillTx/>
                <a:latin typeface="Microsoft JhengHei UI"/>
                <a:ea typeface="Microsoft JhengHei UI"/>
              </a:rPr>
              <a:t>首次越界时，异常样本替换队列中的普通读数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85800" y="5143680"/>
            <a:ext cx="619056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失败后按 </a:t>
            </a:r>
            <a:r>
              <a:rPr lang="en-US" sz="18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2 / 4 / 8 / 16 / 32 </a:t>
            </a:r>
            <a:r>
              <a:rPr lang="zh-CN" sz="18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秒重试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685800" y="5667480"/>
            <a:ext cx="61905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串口返回码帮助区分网络、</a:t>
            </a:r>
            <a:r>
              <a:rPr lang="en-US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TLS </a:t>
            </a: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与鉴权问题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609480" y="361800"/>
            <a:ext cx="102862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环境监测系统架构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11144160" y="428760"/>
            <a:ext cx="5230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609480" y="981000"/>
            <a:ext cx="10972080" cy="277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590400" y="2476440"/>
            <a:ext cx="1428120" cy="904320"/>
          </a:xfrm>
          <a:prstGeom prst="roundRect">
            <a:avLst>
              <a:gd name="adj" fmla="val 8421"/>
            </a:avLst>
          </a:prstGeom>
          <a:solidFill>
            <a:srgbClr val="DFF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704880" y="2600280"/>
            <a:ext cx="119952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AHT20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MQ-2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2571840" y="2333520"/>
            <a:ext cx="1951920" cy="1189800"/>
          </a:xfrm>
          <a:prstGeom prst="roundRect">
            <a:avLst>
              <a:gd name="adj" fmla="val 6400"/>
            </a:avLst>
          </a:prstGeom>
          <a:solidFill>
            <a:srgbClr val="0B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2685960" y="2457360"/>
            <a:ext cx="1723320" cy="98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Hi3861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OLED + </a:t>
            </a:r>
            <a:r>
              <a:rPr lang="zh-CN" sz="150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蜂鸣器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5191200" y="2476440"/>
            <a:ext cx="1475640" cy="904320"/>
          </a:xfrm>
          <a:prstGeom prst="roundRect">
            <a:avLst>
              <a:gd name="adj" fmla="val 8421"/>
            </a:avLst>
          </a:prstGeom>
          <a:solidFill>
            <a:srgbClr val="DDE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5305320" y="2600280"/>
            <a:ext cx="124704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IoTDA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7334280" y="2333520"/>
            <a:ext cx="1809000" cy="1189800"/>
          </a:xfrm>
          <a:prstGeom prst="roundRect">
            <a:avLst>
              <a:gd name="adj" fmla="val 6400"/>
            </a:avLst>
          </a:prstGeom>
          <a:solidFill>
            <a:srgbClr val="FFF0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7448400" y="2457360"/>
            <a:ext cx="1580400" cy="98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Node.js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SQLite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9810720" y="2476440"/>
            <a:ext cx="1666080" cy="904320"/>
          </a:xfrm>
          <a:prstGeom prst="roundRect">
            <a:avLst>
              <a:gd name="adj" fmla="val 8421"/>
            </a:avLst>
          </a:prstGeom>
          <a:solidFill>
            <a:srgbClr val="FDEC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9925200" y="2600280"/>
            <a:ext cx="14374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6324A"/>
                </a:solidFill>
                <a:effectLst/>
                <a:uFillTx/>
                <a:latin typeface="Microsoft JhengHei UI"/>
                <a:ea typeface="Microsoft JhengHei UI"/>
              </a:rPr>
              <a:t>Web + ntfy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8" name=""/>
          <p:cNvCxnSpPr>
            <a:stCxn id="170" idx="1"/>
            <a:endCxn id="168" idx="3"/>
          </p:cNvCxnSpPr>
          <p:nvPr/>
        </p:nvCxnSpPr>
        <p:spPr>
          <a:xfrm flipH="1">
            <a:off x="2018520" y="2928600"/>
            <a:ext cx="553680" cy="360"/>
          </a:xfrm>
          <a:prstGeom prst="straightConnector1">
            <a:avLst/>
          </a:prstGeom>
          <a:ln w="28575">
            <a:solidFill>
              <a:srgbClr val="16B7C9"/>
            </a:solidFill>
            <a:round/>
            <a:headEnd len="med" type="arrow" w="med"/>
          </a:ln>
        </p:spPr>
      </p:cxnSp>
      <p:cxnSp>
        <p:nvCxnSpPr>
          <p:cNvPr id="179" name=""/>
          <p:cNvCxnSpPr>
            <a:stCxn id="172" idx="1"/>
            <a:endCxn id="170" idx="3"/>
          </p:cNvCxnSpPr>
          <p:nvPr/>
        </p:nvCxnSpPr>
        <p:spPr>
          <a:xfrm flipH="1">
            <a:off x="4523760" y="2928600"/>
            <a:ext cx="667800" cy="360"/>
          </a:xfrm>
          <a:prstGeom prst="straightConnector1">
            <a:avLst/>
          </a:prstGeom>
          <a:ln w="28575">
            <a:solidFill>
              <a:srgbClr val="16B7C9"/>
            </a:solidFill>
            <a:round/>
            <a:headEnd len="med" type="arrow" w="med"/>
          </a:ln>
        </p:spPr>
      </p:cxnSp>
      <p:cxnSp>
        <p:nvCxnSpPr>
          <p:cNvPr id="180" name=""/>
          <p:cNvCxnSpPr>
            <a:stCxn id="174" idx="1"/>
            <a:endCxn id="172" idx="3"/>
          </p:cNvCxnSpPr>
          <p:nvPr/>
        </p:nvCxnSpPr>
        <p:spPr>
          <a:xfrm flipH="1">
            <a:off x="6666840" y="2928600"/>
            <a:ext cx="667800" cy="360"/>
          </a:xfrm>
          <a:prstGeom prst="straightConnector1">
            <a:avLst/>
          </a:prstGeom>
          <a:ln w="28575">
            <a:solidFill>
              <a:srgbClr val="16B7C9"/>
            </a:solidFill>
            <a:round/>
            <a:headEnd len="med" type="arrow" w="med"/>
          </a:ln>
        </p:spPr>
      </p:cxnSp>
      <p:cxnSp>
        <p:nvCxnSpPr>
          <p:cNvPr id="181" name=""/>
          <p:cNvCxnSpPr>
            <a:stCxn id="176" idx="1"/>
            <a:endCxn id="174" idx="3"/>
          </p:cNvCxnSpPr>
          <p:nvPr/>
        </p:nvCxnSpPr>
        <p:spPr>
          <a:xfrm flipH="1">
            <a:off x="9143280" y="2928600"/>
            <a:ext cx="667800" cy="360"/>
          </a:xfrm>
          <a:prstGeom prst="straightConnector1">
            <a:avLst/>
          </a:prstGeom>
          <a:ln w="28575">
            <a:solidFill>
              <a:srgbClr val="16B7C9"/>
            </a:solidFill>
            <a:round/>
            <a:headEnd len="med" type="arrow" w="med"/>
          </a:ln>
        </p:spPr>
      </p:cxnSp>
      <p:sp>
        <p:nvSpPr>
          <p:cNvPr id="182" name=""/>
          <p:cNvSpPr/>
          <p:nvPr/>
        </p:nvSpPr>
        <p:spPr>
          <a:xfrm>
            <a:off x="2419200" y="4000680"/>
            <a:ext cx="1809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65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本地链路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2095560" y="4429080"/>
            <a:ext cx="25711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断网仍能显示与蜂鸣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7524720" y="4000680"/>
            <a:ext cx="1809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650" b="1" u="none" strike="noStrike">
                <a:solidFill>
                  <a:srgbClr val="FF9F43"/>
                </a:solidFill>
                <a:effectLst/>
                <a:uFillTx/>
                <a:latin typeface="Microsoft JhengHei UI"/>
                <a:ea typeface="Microsoft JhengHei UI"/>
              </a:rPr>
              <a:t>远程链路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810480" y="4429080"/>
            <a:ext cx="3618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43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阈值下发、历史、告警和手机通知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1619280" y="5381640"/>
            <a:ext cx="295200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6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普通读数每 </a:t>
            </a:r>
            <a:r>
              <a:rPr lang="en-US" sz="16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30 </a:t>
            </a:r>
            <a:r>
              <a:rPr lang="zh-CN" sz="16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秒上报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4762440" y="5381640"/>
            <a:ext cx="25711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650" b="1" u="none" strike="noStrike">
                <a:solidFill>
                  <a:srgbClr val="E74C3C"/>
                </a:solidFill>
                <a:effectLst/>
                <a:uFillTx/>
                <a:latin typeface="Microsoft JhengHei UI"/>
                <a:ea typeface="Microsoft JhengHei UI"/>
              </a:rPr>
              <a:t>首次越界立即入队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7477200" y="5381640"/>
            <a:ext cx="380916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6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后端 </a:t>
            </a:r>
            <a:r>
              <a:rPr lang="en-US" sz="16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10 </a:t>
            </a:r>
            <a:r>
              <a:rPr lang="zh-CN" sz="16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秒轮询　浏览器 </a:t>
            </a:r>
            <a:r>
              <a:rPr lang="en-US" sz="16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5 </a:t>
            </a:r>
            <a:r>
              <a:rPr lang="zh-CN" sz="16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秒刷新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>
            <a:off x="609480" y="361800"/>
            <a:ext cx="102862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设备端：采集、显示与报警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11144160" y="428760"/>
            <a:ext cx="5230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10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609480" y="981000"/>
            <a:ext cx="10972080" cy="277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6095880" y="1380960"/>
            <a:ext cx="21898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7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温湿度异常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6095880" y="1828800"/>
            <a:ext cx="4475880" cy="170640"/>
          </a:xfrm>
          <a:prstGeom prst="roundRect">
            <a:avLst>
              <a:gd name="adj" fmla="val 44444"/>
            </a:avLst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10667880" y="1733400"/>
            <a:ext cx="9518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单次长声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6095880" y="2428920"/>
            <a:ext cx="21898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7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燃气异常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095880" y="2905200"/>
            <a:ext cx="856440" cy="170640"/>
          </a:xfrm>
          <a:prstGeom prst="roundRect">
            <a:avLst>
              <a:gd name="adj" fmla="val 44444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7286760" y="2905200"/>
            <a:ext cx="856440" cy="170640"/>
          </a:xfrm>
          <a:prstGeom prst="roundRect">
            <a:avLst>
              <a:gd name="adj" fmla="val 44444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8477280" y="2905200"/>
            <a:ext cx="856440" cy="170640"/>
          </a:xfrm>
          <a:prstGeom prst="roundRect">
            <a:avLst>
              <a:gd name="adj" fmla="val 44444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9810720" y="2781360"/>
            <a:ext cx="12376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E74C3C"/>
                </a:solidFill>
                <a:effectLst/>
                <a:uFillTx/>
                <a:latin typeface="Microsoft JhengHei UI"/>
                <a:ea typeface="Microsoft JhengHei UI"/>
              </a:rPr>
              <a:t>三短声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6095880" y="3476520"/>
            <a:ext cx="21898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7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异常边沿上报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6095880" y="4000680"/>
            <a:ext cx="1189800" cy="113760"/>
          </a:xfrm>
          <a:prstGeom prst="roundRect">
            <a:avLst>
              <a:gd name="adj" fmla="val 50000"/>
            </a:avLst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6000" rIns="9000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7524720" y="3848040"/>
            <a:ext cx="170640" cy="418320"/>
          </a:xfrm>
          <a:prstGeom prst="roundRect">
            <a:avLst>
              <a:gd name="adj" fmla="val 44444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320" tIns="45000" rIns="853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7934400" y="4000680"/>
            <a:ext cx="1189800" cy="113760"/>
          </a:xfrm>
          <a:prstGeom prst="roundRect">
            <a:avLst>
              <a:gd name="adj" fmla="val 50000"/>
            </a:avLst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6000" rIns="9000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9334440" y="3733920"/>
            <a:ext cx="214236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350" b="1" u="none" strike="noStrike">
                <a:solidFill>
                  <a:srgbClr val="E74C3C"/>
                </a:solidFill>
                <a:effectLst/>
                <a:uFillTx/>
                <a:latin typeface="Microsoft JhengHei UI"/>
                <a:ea typeface="Microsoft JhengHei UI"/>
              </a:rPr>
              <a:t>正常转异常时立即替换上报队列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6095880" y="4667400"/>
            <a:ext cx="190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安全策略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6095880" y="5095800"/>
            <a:ext cx="533340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燃气告警默认关闭，完成预热与标定后再启用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采集线程只入队，不等待 </a:t>
            </a:r>
            <a:r>
              <a:rPr lang="en-US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MQTT </a:t>
            </a: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网络操作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"/>
          <p:cNvPicPr/>
          <p:nvPr/>
        </p:nvPicPr>
        <p:blipFill>
          <a:blip r:embed="rId1"/>
          <a:stretch/>
        </p:blipFill>
        <p:spPr>
          <a:xfrm>
            <a:off x="546840" y="1440000"/>
            <a:ext cx="5279760" cy="39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>
            <a:off x="609480" y="361800"/>
            <a:ext cx="102862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Web </a:t>
            </a: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端：数据、阈值与通知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11144160" y="428760"/>
            <a:ext cx="5230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11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609480" y="981000"/>
            <a:ext cx="10972080" cy="277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619200" y="1380960"/>
            <a:ext cx="6761880" cy="4095000"/>
          </a:xfrm>
          <a:prstGeom prst="roundRect">
            <a:avLst>
              <a:gd name="adj" fmla="val 1860"/>
            </a:avLst>
          </a:prstGeom>
          <a:solidFill>
            <a:srgbClr val="F3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905040" y="1619280"/>
            <a:ext cx="22852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6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温度趋势示意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1047600" y="4952880"/>
            <a:ext cx="5809680" cy="18360"/>
          </a:xfrm>
          <a:prstGeom prst="rect">
            <a:avLst/>
          </a:prstGeom>
          <a:solidFill>
            <a:srgbClr val="A9BC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1047600" y="2238480"/>
            <a:ext cx="18360" cy="2714040"/>
          </a:xfrm>
          <a:prstGeom prst="rect">
            <a:avLst/>
          </a:prstGeom>
          <a:solidFill>
            <a:srgbClr val="A9BC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60" tIns="45000" rIns="93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 flipV="1">
            <a:off x="1142640" y="4000320"/>
            <a:ext cx="952560" cy="333360"/>
          </a:xfrm>
          <a:prstGeom prst="line">
            <a:avLst/>
          </a:prstGeom>
          <a:ln w="47625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2095200" y="4000320"/>
            <a:ext cx="952560" cy="237960"/>
          </a:xfrm>
          <a:prstGeom prst="line">
            <a:avLst/>
          </a:prstGeom>
          <a:ln w="47625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 flipV="1">
            <a:off x="3047760" y="3190680"/>
            <a:ext cx="952560" cy="1047600"/>
          </a:xfrm>
          <a:prstGeom prst="line">
            <a:avLst/>
          </a:prstGeom>
          <a:ln w="47625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 flipV="1">
            <a:off x="4000320" y="2619360"/>
            <a:ext cx="952560" cy="571320"/>
          </a:xfrm>
          <a:prstGeom prst="line">
            <a:avLst/>
          </a:prstGeom>
          <a:ln w="47625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4952880" y="2619360"/>
            <a:ext cx="952560" cy="285480"/>
          </a:xfrm>
          <a:prstGeom prst="line">
            <a:avLst/>
          </a:prstGeom>
          <a:ln w="47625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 flipV="1">
            <a:off x="5905440" y="2095200"/>
            <a:ext cx="857160" cy="809640"/>
          </a:xfrm>
          <a:prstGeom prst="line">
            <a:avLst/>
          </a:prstGeom>
          <a:ln w="47625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1047600" y="2857680"/>
            <a:ext cx="5809680" cy="277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5619600" y="2523960"/>
            <a:ext cx="12376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280" b="1" u="none" strike="noStrike">
                <a:solidFill>
                  <a:srgbClr val="E74C3C"/>
                </a:solidFill>
                <a:effectLst/>
                <a:uFillTx/>
                <a:latin typeface="Microsoft JhengHei UI"/>
                <a:ea typeface="Microsoft JhengHei UI"/>
              </a:rPr>
              <a:t>报警上限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7810560" y="1428840"/>
            <a:ext cx="2952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70" b="1" u="none" strike="noStrike">
                <a:solidFill>
                  <a:srgbClr val="E74C3C"/>
                </a:solidFill>
                <a:effectLst/>
                <a:uFillTx/>
                <a:latin typeface="Microsoft JhengHei UI"/>
                <a:ea typeface="Microsoft JhengHei UI"/>
              </a:rPr>
              <a:t>超过阈值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7810560" y="1857240"/>
            <a:ext cx="314244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状态变化生成事件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恢复缓冲减少反复报警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7810560" y="2762280"/>
            <a:ext cx="2952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7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阈值下发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7810560" y="3191040"/>
            <a:ext cx="314244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SetThresholds </a:t>
            </a: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同步命令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设备写入 </a:t>
            </a:r>
            <a:r>
              <a:rPr lang="en-US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KV </a:t>
            </a: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后确认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7810560" y="4143240"/>
            <a:ext cx="2952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70" b="1" u="none" strike="noStrike">
                <a:solidFill>
                  <a:srgbClr val="FF9F43"/>
                </a:solidFill>
                <a:effectLst/>
                <a:uFillTx/>
                <a:latin typeface="Microsoft JhengHei UI"/>
                <a:ea typeface="Microsoft JhengHei UI"/>
              </a:rPr>
              <a:t>通知失败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7810560" y="4572000"/>
            <a:ext cx="3285360" cy="5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SQLite </a:t>
            </a: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保存待发事件，按顺序退避重试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7810560" y="5429160"/>
            <a:ext cx="333288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43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同一 </a:t>
            </a:r>
            <a:r>
              <a:rPr lang="en-US" sz="143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ntfy Topic </a:t>
            </a:r>
            <a:r>
              <a:rPr lang="zh-CN" sz="143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可由本人和多位家人订阅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>
            <a:off x="609480" y="361800"/>
            <a:ext cx="102862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测试结果与实习收获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11144160" y="428760"/>
            <a:ext cx="5230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12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609480" y="981000"/>
            <a:ext cx="10972080" cy="277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857160" y="1571760"/>
            <a:ext cx="2094840" cy="10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540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18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857160" y="2619360"/>
            <a:ext cx="285696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自动化测试全部通过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4476600" y="1571760"/>
            <a:ext cx="2094840" cy="10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540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333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4476600" y="2619360"/>
            <a:ext cx="285696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步云端固件完整构建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8096400" y="1571760"/>
            <a:ext cx="2094840" cy="10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5400" b="1" u="none" strike="noStrike">
                <a:solidFill>
                  <a:srgbClr val="FF9F43"/>
                </a:solidFill>
                <a:effectLst/>
                <a:uFillTx/>
                <a:latin typeface="Microsoft JhengHei UI"/>
                <a:ea typeface="Microsoft JhengHei UI"/>
              </a:rPr>
              <a:t>3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8096400" y="2619360"/>
            <a:ext cx="285696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设备、云、</a:t>
            </a:r>
            <a:r>
              <a:rPr lang="en-US" sz="18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Web </a:t>
            </a:r>
            <a:r>
              <a:rPr lang="zh-CN" sz="18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协同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14240" y="3714840"/>
            <a:ext cx="10572120" cy="27720"/>
          </a:xfrm>
          <a:prstGeom prst="rect">
            <a:avLst/>
          </a:prstGeom>
          <a:solidFill>
            <a:srgbClr val="A9BC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714240" y="4191120"/>
            <a:ext cx="428544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17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我学到的不只是接口调用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714240" y="4809960"/>
            <a:ext cx="990540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8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还需要按数据链路定位问题，并区分入队、</a:t>
            </a:r>
            <a:r>
              <a:rPr lang="en-US" sz="18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MQTT </a:t>
            </a:r>
            <a:r>
              <a:rPr lang="zh-CN" sz="18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发布、云端更新和 </a:t>
            </a:r>
            <a:r>
              <a:rPr lang="en-US" sz="18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Web </a:t>
            </a:r>
            <a:r>
              <a:rPr lang="zh-CN" sz="18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接收。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714240" y="5715000"/>
            <a:ext cx="990540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8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下一步：</a:t>
            </a:r>
            <a:r>
              <a:rPr lang="en-US" sz="158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MQ-2 </a:t>
            </a:r>
            <a:r>
              <a:rPr lang="zh-CN" sz="158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标定、异常上报计时、端到端家庭告警演练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>
            <a:off x="609480" y="361800"/>
            <a:ext cx="102862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55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个人总结：技术、协作与责任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11144160" y="428760"/>
            <a:ext cx="5230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13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609480" y="981000"/>
            <a:ext cx="10972080" cy="2772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666720" y="1476360"/>
            <a:ext cx="5238000" cy="1809000"/>
          </a:xfrm>
          <a:prstGeom prst="roundRect">
            <a:avLst>
              <a:gd name="adj" fmla="val 4211"/>
            </a:avLst>
          </a:prstGeom>
          <a:solidFill>
            <a:srgbClr val="DDE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895320" y="1666800"/>
            <a:ext cx="5230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01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1571760" y="1666800"/>
            <a:ext cx="37141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1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技术成长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952560" y="2286000"/>
            <a:ext cx="46188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从单个接口调用，进步到设备、云平台和 </a:t>
            </a:r>
            <a:r>
              <a:rPr lang="en-US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Web </a:t>
            </a: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全链路实现。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6286680" y="1476360"/>
            <a:ext cx="5238000" cy="1809000"/>
          </a:xfrm>
          <a:prstGeom prst="roundRect">
            <a:avLst>
              <a:gd name="adj" fmla="val 4211"/>
            </a:avLst>
          </a:prstGeom>
          <a:solidFill>
            <a:srgbClr val="DFF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6515280" y="1666800"/>
            <a:ext cx="5230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02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7191360" y="1666800"/>
            <a:ext cx="37141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1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问题解决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572160" y="2286000"/>
            <a:ext cx="46188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结合构建信息与串口日志分层定位问题，并用测试验证修复。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666720" y="3809880"/>
            <a:ext cx="5238000" cy="1809000"/>
          </a:xfrm>
          <a:prstGeom prst="roundRect">
            <a:avLst>
              <a:gd name="adj" fmla="val 4211"/>
            </a:avLst>
          </a:prstGeom>
          <a:solidFill>
            <a:srgbClr val="FFF0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895320" y="4000680"/>
            <a:ext cx="5230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03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1571760" y="4000680"/>
            <a:ext cx="37141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1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团队协作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952560" y="4619520"/>
            <a:ext cx="46188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通过分工、设计文档、技术汇报和答疑，提升沟通与表达能力。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6286680" y="3809880"/>
            <a:ext cx="5238000" cy="1809000"/>
          </a:xfrm>
          <a:prstGeom prst="roundRect">
            <a:avLst>
              <a:gd name="adj" fmla="val 4211"/>
            </a:avLst>
          </a:prstGeom>
          <a:solidFill>
            <a:srgbClr val="FDEC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6515280" y="4000680"/>
            <a:ext cx="5230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16B7C9"/>
                </a:solidFill>
                <a:effectLst/>
                <a:uFillTx/>
                <a:latin typeface="Microsoft JhengHei UI"/>
                <a:ea typeface="Microsoft JhengHei UI"/>
              </a:rPr>
              <a:t>04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7191360" y="4000680"/>
            <a:ext cx="37141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100" b="1" u="none" strike="noStrike">
                <a:solidFill>
                  <a:srgbClr val="0B1F33"/>
                </a:solidFill>
                <a:effectLst/>
                <a:uFillTx/>
                <a:latin typeface="Microsoft JhengHei UI"/>
                <a:ea typeface="Microsoft JhengHei UI"/>
              </a:rPr>
              <a:t>工程责任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6572160" y="4619520"/>
            <a:ext cx="46188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5F7488"/>
                </a:solidFill>
                <a:effectLst/>
                <a:uFillTx/>
                <a:latin typeface="Microsoft JhengHei UI"/>
                <a:ea typeface="Microsoft JhengHei UI"/>
              </a:rPr>
              <a:t>关注行动不便群体，坚持安全边界、数据诚信与公众利益。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857160" y="5952960"/>
            <a:ext cx="104767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8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后续：完成 </a:t>
            </a:r>
            <a:r>
              <a:rPr lang="en-US" sz="158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MQ-2 </a:t>
            </a:r>
            <a:r>
              <a:rPr lang="zh-CN" sz="1580" b="1" u="none" strike="noStrike">
                <a:solidFill>
                  <a:srgbClr val="1565C0"/>
                </a:solidFill>
                <a:effectLst/>
                <a:uFillTx/>
                <a:latin typeface="Microsoft JhengHei UI"/>
                <a:ea typeface="Microsoft JhengHei UI"/>
              </a:rPr>
              <a:t>标定与长期稳定性验证，持续改进绿色、安全、高效的家庭物联网方案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>
            <a:off x="0" y="2190600"/>
            <a:ext cx="12191400" cy="9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4800" b="1" u="none" strike="noStrike">
                <a:solidFill>
                  <a:srgbClr val="F8FBFF"/>
                </a:solidFill>
                <a:effectLst/>
                <a:uFillTx/>
                <a:latin typeface="Microsoft JhengHei UI"/>
                <a:ea typeface="Microsoft JhengHei UI"/>
              </a:rPr>
              <a:t>谢谢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4905360" y="3429000"/>
            <a:ext cx="2380680" cy="46800"/>
          </a:xfrm>
          <a:prstGeom prst="rect">
            <a:avLst/>
          </a:prstGeom>
          <a:solidFill>
            <a:srgbClr val="16B7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520" rIns="90000" bIns="25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0" y="3857760"/>
            <a:ext cx="121914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2100" b="0" u="none" strike="noStrike">
                <a:solidFill>
                  <a:srgbClr val="6EE7B7"/>
                </a:solidFill>
                <a:effectLst/>
                <a:uFillTx/>
                <a:latin typeface="Microsoft JhengHei UI"/>
                <a:ea typeface="Microsoft JhengHei UI"/>
              </a:rPr>
              <a:t>感谢指导与聆听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2026-09-07T01:50:59Z</dcterms:created>
  <dc:creator>Walnut Exporter</dc:creator>
  <dc:description/>
  <dc:language>zh-CN</dc:language>
  <cp:lastModifiedBy/>
  <dcterms:modified xsi:type="dcterms:W3CDTF">2026-09-07T15:03:24Z</dcterms:modified>
  <cp:revision>4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