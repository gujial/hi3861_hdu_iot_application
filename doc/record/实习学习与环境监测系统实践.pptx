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击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以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移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动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幻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灯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片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编辑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备注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F63E3F0-66AB-40F0-9117-F2F42CCA0DC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成员与分工为可编辑占位项，请在汇报前替换。开发板照片来自仓库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实习目的概括为专业能力、应用价值、职业素养、工程伦理和团队沟通五个方面。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三个阶段依次对应环境搭建、官方案例与智能红绿灯综合训练、环境监测自主项目。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烧录截图来自仓库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doc/pic/1660634596327.png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核心板照片来自仓库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doc/pic/hisaprk_link.jpg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数据链路依据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src/applications/environment_monitor/device/environment_cloud.c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测试数量来自当前自动化测试结果。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场景与边界依据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架构依据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PROJECT_DOCUMENT.md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device/web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源码。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开发板照片来自仓库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doc/pic/M1.jpg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；同一真实硬件在不同主题页再次出现，用于说明设备端功能。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趋势为结构示意，不代表真实测量数据。告警规则依据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backend/store.mjs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项测试由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个设备配置测试和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后端测试组成；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333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为当前云端固件构建步骤数。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本页结合实际开发经历，从技术能力、问题分析、团队表达和工程伦理四个方面总结。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致谢页。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480960"/>
            <a:ext cx="10971360" cy="73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3297960"/>
            <a:ext cx="10971360" cy="59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136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击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以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编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辑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标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题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文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本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格</a:t>
            </a: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246240" cy="685656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23960" y="819000"/>
            <a:ext cx="7237440" cy="14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实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习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学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习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总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结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与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家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庭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环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境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监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测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系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统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实</a:t>
            </a:r>
            <a:r>
              <a:rPr lang="zh-CN" sz="37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践</a:t>
            </a:r>
            <a:endParaRPr lang="en-US" sz="3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62120" y="2428920"/>
            <a:ext cx="7237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Open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Harm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ony ·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Hi386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1 ·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MQT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T · </a:t>
            </a:r>
            <a:r>
              <a:rPr lang="zh-CN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华</a:t>
            </a:r>
            <a:r>
              <a:rPr lang="zh-CN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为云 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IoTD</a:t>
            </a:r>
            <a:r>
              <a:rPr lang="en-US" sz="165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A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8458200" y="457200"/>
            <a:ext cx="3141720" cy="4475160"/>
          </a:xfrm>
          <a:prstGeom prst="roundRect">
            <a:avLst>
              <a:gd name="adj" fmla="val 363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23960" y="3600000"/>
            <a:ext cx="7085160" cy="2399400"/>
          </a:xfrm>
          <a:prstGeom prst="roundRect">
            <a:avLst>
              <a:gd name="adj" fmla="val 5634"/>
            </a:avLst>
          </a:prstGeom>
          <a:solidFill>
            <a:srgbClr val="102E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Calibri"/>
              </a:rPr>
              <a:t>	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080000" y="3816360"/>
            <a:ext cx="64756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成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员：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古佳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乐  乐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相宜 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张石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香 滕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汶希 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胡永</a:t>
            </a:r>
            <a:r>
              <a:rPr lang="zh-CN" sz="16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宁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" name=""/>
          <p:cNvGraphicFramePr/>
          <p:nvPr/>
        </p:nvGraphicFramePr>
        <p:xfrm>
          <a:off x="1034280" y="4172400"/>
          <a:ext cx="6525720" cy="1466640"/>
        </p:xfrm>
        <a:graphic>
          <a:graphicData uri="http://schemas.openxmlformats.org/drawingml/2006/table">
            <a:tbl>
              <a:tblPr/>
              <a:tblGrid>
                <a:gridCol w="755640"/>
                <a:gridCol w="5770080"/>
              </a:tblGrid>
              <a:tr h="24048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古佳乐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项目组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长，负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责设备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端软件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开发、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各功能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模块的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集成与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联调，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以及用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户手册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的编写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乐相宜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负责需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求说明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书编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写、系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统架构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与功能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设计，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以及 </a:t>
                      </a: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Web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应</a:t>
                      </a:r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用开发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张石香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负责项目总结编写及华为云物联网平台的配置与管理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滕汶希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负责用户故事编写、会议记录整理、项目计划制定，以及消息推送平台的部署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胡永宁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zh-CN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等线"/>
                        </a:rPr>
                        <a:t>负责测试用例的设计、编写与整理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等线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实习目的：从技术学习到工程责任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4809960" y="2714760"/>
            <a:ext cx="2570400" cy="1141560"/>
          </a:xfrm>
          <a:prstGeom prst="roundRect">
            <a:avLst>
              <a:gd name="adj" fmla="val 6667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924440" y="2838600"/>
            <a:ext cx="2341800" cy="93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鸿蒙物联网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工程实践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905040" y="1571760"/>
            <a:ext cx="2856240" cy="90360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019160" y="1695600"/>
            <a:ext cx="26276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专业与方案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238560" y="1685880"/>
            <a:ext cx="42732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1038240" y="2028960"/>
            <a:ext cx="2570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开发技术、调研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需求分析与方案设计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8286840" y="1571760"/>
            <a:ext cx="2856240" cy="903600"/>
          </a:xfrm>
          <a:prstGeom prst="roundRect">
            <a:avLst>
              <a:gd name="adj" fmla="val 8421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00960" y="1695600"/>
            <a:ext cx="26276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价值与发展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0620360" y="1685880"/>
            <a:ext cx="42732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20040" y="2028960"/>
            <a:ext cx="2570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理解应用价值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绿色、安全、高效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666720" y="4238640"/>
            <a:ext cx="2856240" cy="903600"/>
          </a:xfrm>
          <a:prstGeom prst="roundRect">
            <a:avLst>
              <a:gd name="adj" fmla="val 842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81200" y="4362480"/>
            <a:ext cx="26276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实践与素养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000240" y="4352760"/>
            <a:ext cx="42732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00280" y="4695840"/>
            <a:ext cx="2570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提升实操与抗压能力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恪守诚信和工程规范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8667720" y="4238640"/>
            <a:ext cx="2856240" cy="90360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8782200" y="4362480"/>
            <a:ext cx="26276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伦理与责任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1001240" y="4352760"/>
            <a:ext cx="42732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801280" y="4695840"/>
            <a:ext cx="2570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保护公众利益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遵循安全规范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4809960" y="5000760"/>
            <a:ext cx="2856240" cy="90360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924440" y="5124600"/>
            <a:ext cx="26276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协作与表达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143840" y="5114880"/>
            <a:ext cx="42732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4943520" y="5457960"/>
            <a:ext cx="2570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团队沟通、文档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2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汇报、陈述与答疑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三阶段实习内容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85800" y="1666800"/>
            <a:ext cx="3332160" cy="333216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923760" y="1857240"/>
            <a:ext cx="6652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3760" y="2523960"/>
            <a:ext cx="27608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第一阶段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923760" y="3048120"/>
            <a:ext cx="2760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环境搭建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923760" y="3762360"/>
            <a:ext cx="2760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开发环境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工程结构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编译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烧录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4038480" y="3000240"/>
            <a:ext cx="3985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448160" y="1666800"/>
            <a:ext cx="3332160" cy="3332160"/>
          </a:xfrm>
          <a:prstGeom prst="roundRect">
            <a:avLst>
              <a:gd name="adj" fmla="val 228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4686480" y="1857240"/>
            <a:ext cx="6652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4686480" y="2523960"/>
            <a:ext cx="27608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第二阶段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686480" y="3048120"/>
            <a:ext cx="2760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案例与综合训练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686480" y="3762360"/>
            <a:ext cx="2760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官方案例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外设驱动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综合项目：智能红绿灯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7800840" y="3000240"/>
            <a:ext cx="3985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8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→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8210520" y="1666800"/>
            <a:ext cx="3332160" cy="3332160"/>
          </a:xfrm>
          <a:prstGeom prst="roundRect">
            <a:avLst>
              <a:gd name="adj" fmla="val 228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8448840" y="1857240"/>
            <a:ext cx="6652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8448840" y="2523960"/>
            <a:ext cx="27608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第三阶段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8448840" y="3048120"/>
            <a:ext cx="27608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3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自主项目实践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8448840" y="3762360"/>
            <a:ext cx="2760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需求设计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·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端云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联调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家庭环境监测系统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809720" y="5524560"/>
            <a:ext cx="85712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先建立可复现环境，再通过案例训练，最终完成自主设计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OpenHarmony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工程与构建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66720" y="1600560"/>
            <a:ext cx="6666120" cy="3845880"/>
          </a:xfrm>
          <a:prstGeom prst="roundRect">
            <a:avLst>
              <a:gd name="adj" fmla="val 2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7905600" y="1476360"/>
            <a:ext cx="285624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02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代码组织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905600" y="2000160"/>
            <a:ext cx="3332160" cy="13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BUILD.gn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描述目标与依赖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hb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驱动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GN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Ninja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构建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固件烧录后通过串口观察运行状态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7905600" y="3828960"/>
            <a:ext cx="855720" cy="588960"/>
          </a:xfrm>
          <a:prstGeom prst="roundRect">
            <a:avLst>
              <a:gd name="adj" fmla="val 12903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020080" y="3952800"/>
            <a:ext cx="6271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源码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220320" y="3828960"/>
            <a:ext cx="855720" cy="588960"/>
          </a:xfrm>
          <a:prstGeom prst="roundRect">
            <a:avLst>
              <a:gd name="adj" fmla="val 12903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334440" y="3952800"/>
            <a:ext cx="6271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GN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0534680" y="3828960"/>
            <a:ext cx="855720" cy="588960"/>
          </a:xfrm>
          <a:prstGeom prst="roundRect">
            <a:avLst>
              <a:gd name="adj" fmla="val 12903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648800" y="3952800"/>
            <a:ext cx="6271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固件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"/>
          <p:cNvCxnSpPr>
            <a:stCxn id="75" idx="1"/>
            <a:endCxn id="73" idx="3"/>
          </p:cNvCxnSpPr>
          <p:nvPr/>
        </p:nvCxnSpPr>
        <p:spPr>
          <a:xfrm flipH="1">
            <a:off x="10076040" y="4123440"/>
            <a:ext cx="4590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78" name=""/>
          <p:cNvSpPr/>
          <p:nvPr/>
        </p:nvSpPr>
        <p:spPr>
          <a:xfrm>
            <a:off x="7905600" y="4952880"/>
            <a:ext cx="333216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理解构建链，才能定位“头文件找不到”和链接失败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板级外设协同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19200" y="1380960"/>
            <a:ext cx="3903840" cy="4761000"/>
          </a:xfrm>
          <a:prstGeom prst="roundRect">
            <a:avLst>
              <a:gd name="adj" fmla="val 292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334280" y="2952720"/>
            <a:ext cx="1617840" cy="95112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448400" y="3076560"/>
            <a:ext cx="1389240" cy="74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5095800" y="1762200"/>
            <a:ext cx="1427400" cy="741600"/>
          </a:xfrm>
          <a:prstGeom prst="roundRect">
            <a:avLst>
              <a:gd name="adj" fmla="val 10256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210280" y="1886040"/>
            <a:ext cx="119880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5800" y="4572000"/>
            <a:ext cx="1427400" cy="741600"/>
          </a:xfrm>
          <a:prstGeom prst="roundRect">
            <a:avLst>
              <a:gd name="adj" fmla="val 10256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210280" y="4695840"/>
            <a:ext cx="119880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ADC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9810720" y="1762200"/>
            <a:ext cx="1427400" cy="741600"/>
          </a:xfrm>
          <a:prstGeom prst="roundRect">
            <a:avLst>
              <a:gd name="adj" fmla="val 10256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9925200" y="1886040"/>
            <a:ext cx="119880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OLED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I2C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9810720" y="4572000"/>
            <a:ext cx="1427400" cy="741600"/>
          </a:xfrm>
          <a:prstGeom prst="roundRect">
            <a:avLst>
              <a:gd name="adj" fmla="val 10256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9925200" y="4695840"/>
            <a:ext cx="119880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PWM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"/>
          <p:cNvCxnSpPr>
            <a:stCxn id="83" idx="1"/>
            <a:endCxn id="85" idx="3"/>
          </p:cNvCxnSpPr>
          <p:nvPr/>
        </p:nvCxnSpPr>
        <p:spPr>
          <a:xfrm flipH="1" flipV="1">
            <a:off x="6523200" y="2133000"/>
            <a:ext cx="81144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4" name=""/>
          <p:cNvCxnSpPr>
            <a:stCxn id="83" idx="1"/>
            <a:endCxn id="87" idx="3"/>
          </p:cNvCxnSpPr>
          <p:nvPr/>
        </p:nvCxnSpPr>
        <p:spPr>
          <a:xfrm flipH="1">
            <a:off x="6523200" y="3428280"/>
            <a:ext cx="81144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5" name=""/>
          <p:cNvCxnSpPr>
            <a:stCxn id="89" idx="1"/>
            <a:endCxn id="83" idx="3"/>
          </p:cNvCxnSpPr>
          <p:nvPr/>
        </p:nvCxnSpPr>
        <p:spPr>
          <a:xfrm flipH="1">
            <a:off x="8952120" y="2133000"/>
            <a:ext cx="858960" cy="129564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96" name=""/>
          <p:cNvCxnSpPr>
            <a:stCxn id="91" idx="1"/>
            <a:endCxn id="83" idx="3"/>
          </p:cNvCxnSpPr>
          <p:nvPr/>
        </p:nvCxnSpPr>
        <p:spPr>
          <a:xfrm flipH="1" flipV="1">
            <a:off x="8952120" y="3428280"/>
            <a:ext cx="858960" cy="151488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97" name=""/>
          <p:cNvSpPr/>
          <p:nvPr/>
        </p:nvSpPr>
        <p:spPr>
          <a:xfrm>
            <a:off x="5095800" y="5619600"/>
            <a:ext cx="16178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传感器输入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9667800" y="5619600"/>
            <a:ext cx="17132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执行器输出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与云平台连接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685800" y="2428920"/>
            <a:ext cx="1617840" cy="855720"/>
          </a:xfrm>
          <a:prstGeom prst="roundRect">
            <a:avLst>
              <a:gd name="adj" fmla="val 8889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800280" y="2552760"/>
            <a:ext cx="13892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设备采集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2762280" y="2428920"/>
            <a:ext cx="1617840" cy="855720"/>
          </a:xfrm>
          <a:prstGeom prst="roundRect">
            <a:avLst>
              <a:gd name="adj" fmla="val 8889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876400" y="2552760"/>
            <a:ext cx="13892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MQTTS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TLS 1.2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38760" y="2428920"/>
            <a:ext cx="1617840" cy="855720"/>
          </a:xfrm>
          <a:prstGeom prst="roundRect">
            <a:avLst>
              <a:gd name="adj" fmla="val 8889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52880" y="2552760"/>
            <a:ext cx="13892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华为云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915240" y="2428920"/>
            <a:ext cx="1617840" cy="855720"/>
          </a:xfrm>
          <a:prstGeom prst="roundRect">
            <a:avLst>
              <a:gd name="adj" fmla="val 8889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029360" y="2552760"/>
            <a:ext cx="13892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设备影子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8991720" y="2428920"/>
            <a:ext cx="1617840" cy="855720"/>
          </a:xfrm>
          <a:prstGeom prst="roundRect">
            <a:avLst>
              <a:gd name="adj" fmla="val 8889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105840" y="2552760"/>
            <a:ext cx="138924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后端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"/>
          <p:cNvCxnSpPr>
            <a:stCxn id="104" idx="1"/>
            <a:endCxn id="102" idx="3"/>
          </p:cNvCxnSpPr>
          <p:nvPr/>
        </p:nvCxnSpPr>
        <p:spPr>
          <a:xfrm flipH="1">
            <a:off x="2303640" y="2856960"/>
            <a:ext cx="4590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3" name=""/>
          <p:cNvCxnSpPr>
            <a:stCxn id="106" idx="1"/>
            <a:endCxn id="104" idx="3"/>
          </p:cNvCxnSpPr>
          <p:nvPr/>
        </p:nvCxnSpPr>
        <p:spPr>
          <a:xfrm flipH="1">
            <a:off x="4380120" y="2856960"/>
            <a:ext cx="4590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4" name=""/>
          <p:cNvCxnSpPr>
            <a:stCxn id="108" idx="1"/>
            <a:endCxn id="106" idx="3"/>
          </p:cNvCxnSpPr>
          <p:nvPr/>
        </p:nvCxnSpPr>
        <p:spPr>
          <a:xfrm flipH="1">
            <a:off x="6456600" y="2856960"/>
            <a:ext cx="4590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15" name=""/>
          <p:cNvCxnSpPr>
            <a:stCxn id="110" idx="1"/>
            <a:endCxn id="108" idx="3"/>
          </p:cNvCxnSpPr>
          <p:nvPr/>
        </p:nvCxnSpPr>
        <p:spPr>
          <a:xfrm flipH="1">
            <a:off x="8533080" y="2856960"/>
            <a:ext cx="4590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16" name=""/>
          <p:cNvSpPr/>
          <p:nvPr/>
        </p:nvSpPr>
        <p:spPr>
          <a:xfrm>
            <a:off x="2714760" y="1666800"/>
            <a:ext cx="39038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Client ID + Device ID +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派生密码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286080" y="3619440"/>
            <a:ext cx="22845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QoS 1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属性上报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685800" y="4952880"/>
            <a:ext cx="618984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失败后按 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2 / 4 / 8 / 16 / 32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秒重试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85800" y="5477040"/>
            <a:ext cx="618984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串口返回码帮助区分网络、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与鉴权问题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调试方法与问题定位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743040" y="1523880"/>
            <a:ext cx="4939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1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628560" y="1476360"/>
            <a:ext cx="608040" cy="60804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619280" y="150480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配置生成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95720" y="1523880"/>
            <a:ext cx="68565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检查地址、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Client ID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、密码格式和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905040" y="2114640"/>
            <a:ext cx="36720" cy="55116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45000" rIns="18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743040" y="2714760"/>
            <a:ext cx="4939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2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8560" y="2666880"/>
            <a:ext cx="608040" cy="60804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619280" y="269568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串口日志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095720" y="2714760"/>
            <a:ext cx="68565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SCANFINISH / CONNECTED / 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返回码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905040" y="3305160"/>
            <a:ext cx="36720" cy="55116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45000" rIns="18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743040" y="3905280"/>
            <a:ext cx="4939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28560" y="3857760"/>
            <a:ext cx="608040" cy="608040"/>
          </a:xfrm>
          <a:prstGeom prst="roundRect">
            <a:avLst>
              <a:gd name="adj" fmla="val 12500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619280" y="388620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分层判断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095720" y="3905280"/>
            <a:ext cx="68565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Wi-Fi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NTP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TLS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、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MQTT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鉴权逐层排查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905040" y="4495680"/>
            <a:ext cx="36720" cy="55116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45000" rIns="183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43040" y="5095800"/>
            <a:ext cx="4939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32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4</a:t>
            </a:r>
            <a:endParaRPr lang="en-US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28560" y="5048280"/>
            <a:ext cx="608040" cy="608040"/>
          </a:xfrm>
          <a:prstGeom prst="roundRect">
            <a:avLst>
              <a:gd name="adj" fmla="val 12500"/>
            </a:avLst>
          </a:prstGeom>
          <a:solidFill>
            <a:srgbClr val="6EE7B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1619280" y="507672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构建验证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4095720" y="5095800"/>
            <a:ext cx="68565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设备测试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8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项，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测试 </a:t>
            </a: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9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项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实践选题：家庭环境安全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19200" y="1380960"/>
            <a:ext cx="7047000" cy="4475160"/>
          </a:xfrm>
          <a:prstGeom prst="roundRect">
            <a:avLst>
              <a:gd name="adj" fmla="val 1702"/>
            </a:avLst>
          </a:prstGeom>
          <a:solidFill>
            <a:srgbClr val="EA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952560" y="171468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家中现场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52560" y="2286000"/>
            <a:ext cx="2856240" cy="8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老人或行动不便者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无需操作即可听到蜂鸣提示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476600" y="1714680"/>
            <a:ext cx="218916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家人远程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4476600" y="2286000"/>
            <a:ext cx="2665440" cy="8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手机查看趋势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异常时接收 </a:t>
            </a:r>
            <a:r>
              <a:rPr lang="en-US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ntfy </a:t>
            </a:r>
            <a:r>
              <a:rPr lang="zh-CN" sz="1729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通知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52560" y="3666960"/>
            <a:ext cx="599940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952560" y="4000680"/>
            <a:ext cx="1522440" cy="3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重点监测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952560" y="4476600"/>
            <a:ext cx="5332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　湿度　燃气传感器电阻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8096400" y="1380960"/>
            <a:ext cx="3380040" cy="4475160"/>
          </a:xfrm>
          <a:prstGeom prst="roundRect">
            <a:avLst>
              <a:gd name="adj" fmla="val 2254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8477280" y="1809720"/>
            <a:ext cx="26654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25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双通道提醒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8477280" y="2666880"/>
            <a:ext cx="257040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现场蜂鸣器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8477280" y="3476520"/>
            <a:ext cx="257040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手机推送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8477280" y="4762440"/>
            <a:ext cx="257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系统用于辅助发现风险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A9BCD0"/>
                </a:solidFill>
                <a:effectLst/>
                <a:uFillTx/>
                <a:latin typeface="Microsoft JhengHei UI"/>
                <a:ea typeface="Microsoft JhengHei UI"/>
              </a:rPr>
              <a:t>不能替代合规消防报警器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环境监测系统架构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90400" y="2476440"/>
            <a:ext cx="1427400" cy="903600"/>
          </a:xfrm>
          <a:prstGeom prst="roundRect">
            <a:avLst>
              <a:gd name="adj" fmla="val 842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04880" y="2600280"/>
            <a:ext cx="119880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AHT20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MQ-2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2571840" y="2333520"/>
            <a:ext cx="1951200" cy="1189080"/>
          </a:xfrm>
          <a:prstGeom prst="roundRect">
            <a:avLst>
              <a:gd name="adj" fmla="val 6400"/>
            </a:avLst>
          </a:prstGeom>
          <a:solidFill>
            <a:srgbClr val="0B1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2685960" y="2457360"/>
            <a:ext cx="1722600" cy="9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Hi3861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OLED + </a:t>
            </a:r>
            <a:r>
              <a:rPr lang="zh-CN" sz="15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蜂鸣器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5191200" y="2476440"/>
            <a:ext cx="1474920" cy="903600"/>
          </a:xfrm>
          <a:prstGeom prst="roundRect">
            <a:avLst>
              <a:gd name="adj" fmla="val 842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305320" y="2600280"/>
            <a:ext cx="124632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IoTDA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7334280" y="2333520"/>
            <a:ext cx="1808280" cy="1189080"/>
          </a:xfrm>
          <a:prstGeom prst="roundRect">
            <a:avLst>
              <a:gd name="adj" fmla="val 6400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7448400" y="2457360"/>
            <a:ext cx="1579680" cy="9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Node.js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SQLite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9810720" y="2476440"/>
            <a:ext cx="1665360" cy="90360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9925200" y="2600280"/>
            <a:ext cx="143676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6324A"/>
                </a:solidFill>
                <a:effectLst/>
                <a:uFillTx/>
                <a:latin typeface="Microsoft JhengHei UI"/>
                <a:ea typeface="Microsoft JhengHei UI"/>
              </a:rPr>
              <a:t>Web + ntfy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1" name=""/>
          <p:cNvCxnSpPr>
            <a:stCxn id="163" idx="1"/>
            <a:endCxn id="161" idx="3"/>
          </p:cNvCxnSpPr>
          <p:nvPr/>
        </p:nvCxnSpPr>
        <p:spPr>
          <a:xfrm flipH="1">
            <a:off x="2017800" y="2928240"/>
            <a:ext cx="55440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2" name=""/>
          <p:cNvCxnSpPr>
            <a:stCxn id="165" idx="1"/>
            <a:endCxn id="163" idx="3"/>
          </p:cNvCxnSpPr>
          <p:nvPr/>
        </p:nvCxnSpPr>
        <p:spPr>
          <a:xfrm flipH="1">
            <a:off x="4523040" y="2928240"/>
            <a:ext cx="6685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3" name=""/>
          <p:cNvCxnSpPr>
            <a:stCxn id="167" idx="1"/>
            <a:endCxn id="165" idx="3"/>
          </p:cNvCxnSpPr>
          <p:nvPr/>
        </p:nvCxnSpPr>
        <p:spPr>
          <a:xfrm flipH="1">
            <a:off x="6666120" y="2928240"/>
            <a:ext cx="6685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cxnSp>
        <p:nvCxnSpPr>
          <p:cNvPr id="174" name=""/>
          <p:cNvCxnSpPr>
            <a:stCxn id="169" idx="1"/>
            <a:endCxn id="167" idx="3"/>
          </p:cNvCxnSpPr>
          <p:nvPr/>
        </p:nvCxnSpPr>
        <p:spPr>
          <a:xfrm flipH="1">
            <a:off x="9142560" y="2928240"/>
            <a:ext cx="668520" cy="360"/>
          </a:xfrm>
          <a:prstGeom prst="straightConnector1">
            <a:avLst/>
          </a:prstGeom>
          <a:ln w="28575">
            <a:solidFill>
              <a:srgbClr val="16B7C9"/>
            </a:solidFill>
            <a:round/>
            <a:headEnd len="med" type="arrow" w="med"/>
          </a:ln>
        </p:spPr>
      </p:cxnSp>
      <p:sp>
        <p:nvSpPr>
          <p:cNvPr id="175" name=""/>
          <p:cNvSpPr/>
          <p:nvPr/>
        </p:nvSpPr>
        <p:spPr>
          <a:xfrm>
            <a:off x="2419200" y="4000680"/>
            <a:ext cx="1808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本地链路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2095560" y="4429080"/>
            <a:ext cx="257040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断网仍能显示与蜂鸣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7524720" y="4000680"/>
            <a:ext cx="1808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远程链路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953400" y="4429080"/>
            <a:ext cx="314172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历史、阈值、告警和手机通知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2523960" y="5477040"/>
            <a:ext cx="723744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30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秒上报　后端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10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秒轮询　浏览器 </a:t>
            </a:r>
            <a:r>
              <a:rPr lang="en-US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5 </a:t>
            </a:r>
            <a:r>
              <a:rPr lang="zh-CN" sz="1729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秒刷新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设备端：采集、显示与报警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609480" y="1333440"/>
            <a:ext cx="4761000" cy="4761000"/>
          </a:xfrm>
          <a:prstGeom prst="roundRect">
            <a:avLst>
              <a:gd name="adj" fmla="val 240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6095880" y="1476360"/>
            <a:ext cx="21891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温湿度异常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6095880" y="1952640"/>
            <a:ext cx="4475160" cy="169920"/>
          </a:xfrm>
          <a:prstGeom prst="roundRect">
            <a:avLst>
              <a:gd name="adj" fmla="val 44444"/>
            </a:avLst>
          </a:prstGeom>
          <a:solidFill>
            <a:srgbClr val="1565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10667880" y="1857240"/>
            <a:ext cx="9511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单次长声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6095880" y="2714760"/>
            <a:ext cx="21891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燃气异常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6095880" y="3219480"/>
            <a:ext cx="855720" cy="16992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7286760" y="3219480"/>
            <a:ext cx="855720" cy="16992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8477280" y="3219480"/>
            <a:ext cx="855720" cy="169920"/>
          </a:xfrm>
          <a:prstGeom prst="roundRect">
            <a:avLst>
              <a:gd name="adj" fmla="val 44444"/>
            </a:avLst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9810720" y="3095640"/>
            <a:ext cx="12369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43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三短声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6095880" y="4191120"/>
            <a:ext cx="19036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安全策略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6095880" y="4667400"/>
            <a:ext cx="476100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燃气告警默认关闭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完成预热与标定后再启用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无效读数不触发报警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端：数据、阈值与通知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19200" y="1380960"/>
            <a:ext cx="6761160" cy="4094280"/>
          </a:xfrm>
          <a:prstGeom prst="roundRect">
            <a:avLst>
              <a:gd name="adj" fmla="val 1860"/>
            </a:avLst>
          </a:prstGeom>
          <a:solidFill>
            <a:srgbClr val="F3F8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905040" y="1619280"/>
            <a:ext cx="2284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6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温度趋势示意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1047600" y="4952880"/>
            <a:ext cx="5808960" cy="1764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047600" y="2238480"/>
            <a:ext cx="17640" cy="271332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" tIns="45000" rIns="9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 flipV="1">
            <a:off x="1142640" y="4000320"/>
            <a:ext cx="952560" cy="3333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2095200" y="4000320"/>
            <a:ext cx="952560" cy="23796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 flipV="1">
            <a:off x="3047760" y="3190680"/>
            <a:ext cx="952560" cy="104760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 flipV="1">
            <a:off x="4000320" y="2619360"/>
            <a:ext cx="952560" cy="57132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4952880" y="2619360"/>
            <a:ext cx="952560" cy="28548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5905440" y="2095200"/>
            <a:ext cx="857160" cy="809640"/>
          </a:xfrm>
          <a:prstGeom prst="line">
            <a:avLst/>
          </a:prstGeom>
          <a:ln w="47625">
            <a:solidFill>
              <a:srgbClr val="1565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1047600" y="2857680"/>
            <a:ext cx="5808960" cy="2700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5619600" y="2523960"/>
            <a:ext cx="1236960" cy="2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28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报警上限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7810560" y="1571760"/>
            <a:ext cx="2951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E74C3C"/>
                </a:solidFill>
                <a:effectLst/>
                <a:uFillTx/>
                <a:latin typeface="Microsoft JhengHei UI"/>
                <a:ea typeface="Microsoft JhengHei UI"/>
              </a:rPr>
              <a:t>超过阈值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7810560" y="2048040"/>
            <a:ext cx="314172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只在状态变化时记录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恢复缓冲减少反复报警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7810560" y="3286080"/>
            <a:ext cx="2951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95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通知失败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7810560" y="3762360"/>
            <a:ext cx="314172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SQLite </a:t>
            </a: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保存待发事件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CN" sz="158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按顺序退避重试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7810560" y="5095800"/>
            <a:ext cx="33321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同一 </a:t>
            </a:r>
            <a:r>
              <a:rPr lang="en-US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ntfy Topic </a:t>
            </a:r>
            <a:r>
              <a:rPr lang="zh-CN" sz="15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可由本人和多位家人订阅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测试结果与实习收获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857160" y="1571760"/>
            <a:ext cx="209412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17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857160" y="2619360"/>
            <a:ext cx="285624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自动化测试全部通过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476600" y="1571760"/>
            <a:ext cx="209412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333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4476600" y="2619360"/>
            <a:ext cx="285624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步云端固件完整构建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8096400" y="1571760"/>
            <a:ext cx="209412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5400" b="1" u="none" strike="noStrike">
                <a:solidFill>
                  <a:srgbClr val="FF9F43"/>
                </a:solidFill>
                <a:effectLst/>
                <a:uFillTx/>
                <a:latin typeface="Microsoft JhengHei UI"/>
                <a:ea typeface="Microsoft JhengHei UI"/>
              </a:rPr>
              <a:t>3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8096400" y="2619360"/>
            <a:ext cx="285624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设备、云、</a:t>
            </a:r>
            <a:r>
              <a:rPr lang="en-US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8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协同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714240" y="3714840"/>
            <a:ext cx="10571400" cy="27000"/>
          </a:xfrm>
          <a:prstGeom prst="rect">
            <a:avLst/>
          </a:prstGeom>
          <a:solidFill>
            <a:srgbClr val="A9BC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714240" y="4191120"/>
            <a:ext cx="428472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7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我学到的不只是接口调用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714240" y="4809960"/>
            <a:ext cx="990468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8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更重要的是按数据链路定位问题，区分代码通过、构建通过与真机验证。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714240" y="5715000"/>
            <a:ext cx="9904680" cy="3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下一步：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标定、稳定联网、端到端家庭告警演练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609480" y="361800"/>
            <a:ext cx="1028556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55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个人总结：技术、协作与责任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11144160" y="428760"/>
            <a:ext cx="5223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609480" y="981000"/>
            <a:ext cx="10971360" cy="2700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6560" rIns="90000" bIns="-165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666720" y="1476360"/>
            <a:ext cx="5237280" cy="1808280"/>
          </a:xfrm>
          <a:prstGeom prst="roundRect">
            <a:avLst>
              <a:gd name="adj" fmla="val 4211"/>
            </a:avLst>
          </a:prstGeom>
          <a:solidFill>
            <a:srgbClr val="DD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895320" y="1666800"/>
            <a:ext cx="522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01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571760" y="1666800"/>
            <a:ext cx="3713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技术成长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952560" y="2286000"/>
            <a:ext cx="46180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从单个接口调用，进步到设备、云平台和 </a:t>
            </a:r>
            <a:r>
              <a:rPr lang="en-US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Web </a:t>
            </a: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全链路实现。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286680" y="1476360"/>
            <a:ext cx="5237280" cy="1808280"/>
          </a:xfrm>
          <a:prstGeom prst="roundRect">
            <a:avLst>
              <a:gd name="adj" fmla="val 4211"/>
            </a:avLst>
          </a:prstGeom>
          <a:solidFill>
            <a:srgbClr val="DFF7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6515280" y="1666800"/>
            <a:ext cx="522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02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7191360" y="1666800"/>
            <a:ext cx="3713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问题解决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6572160" y="2286000"/>
            <a:ext cx="46180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结合构建信息与串口日志分层定位问题，并用测试验证修复。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666720" y="3809880"/>
            <a:ext cx="5237280" cy="1808280"/>
          </a:xfrm>
          <a:prstGeom prst="roundRect">
            <a:avLst>
              <a:gd name="adj" fmla="val 4211"/>
            </a:avLst>
          </a:prstGeom>
          <a:solidFill>
            <a:srgbClr val="FFF0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895320" y="4000680"/>
            <a:ext cx="522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03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1571760" y="4000680"/>
            <a:ext cx="3713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团队协作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952560" y="4619520"/>
            <a:ext cx="46180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通过分工、设计文档、技术汇报和答疑，提升沟通与表达能力。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6286680" y="3809880"/>
            <a:ext cx="5237280" cy="1808280"/>
          </a:xfrm>
          <a:prstGeom prst="roundRect">
            <a:avLst>
              <a:gd name="adj" fmla="val 4211"/>
            </a:avLst>
          </a:prstGeom>
          <a:solidFill>
            <a:srgbClr val="FDEC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515280" y="4000680"/>
            <a:ext cx="5223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100" b="1" u="none" strike="noStrike">
                <a:solidFill>
                  <a:srgbClr val="16B7C9"/>
                </a:solidFill>
                <a:effectLst/>
                <a:uFillTx/>
                <a:latin typeface="Microsoft JhengHei UI"/>
                <a:ea typeface="Microsoft JhengHei UI"/>
              </a:rPr>
              <a:t>04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7191360" y="4000680"/>
            <a:ext cx="3713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1" u="none" strike="noStrike">
                <a:solidFill>
                  <a:srgbClr val="0B1F33"/>
                </a:solidFill>
                <a:effectLst/>
                <a:uFillTx/>
                <a:latin typeface="Microsoft JhengHei UI"/>
                <a:ea typeface="Microsoft JhengHei UI"/>
              </a:rPr>
              <a:t>工程责任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6572160" y="4619520"/>
            <a:ext cx="46180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00" b="0" u="none" strike="noStrike">
                <a:solidFill>
                  <a:srgbClr val="5F7488"/>
                </a:solidFill>
                <a:effectLst/>
                <a:uFillTx/>
                <a:latin typeface="Microsoft JhengHei UI"/>
                <a:ea typeface="Microsoft JhengHei UI"/>
              </a:rPr>
              <a:t>关注行动不便群体，坚持安全边界、数据诚信与公众利益。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857160" y="5952960"/>
            <a:ext cx="104760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后续：完成 </a:t>
            </a:r>
            <a:r>
              <a:rPr lang="en-US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MQ-2 </a:t>
            </a:r>
            <a:r>
              <a:rPr lang="zh-CN" sz="1580" b="1" u="none" strike="noStrike">
                <a:solidFill>
                  <a:srgbClr val="1565C0"/>
                </a:solidFill>
                <a:effectLst/>
                <a:uFillTx/>
                <a:latin typeface="Microsoft JhengHei UI"/>
                <a:ea typeface="Microsoft JhengHei UI"/>
              </a:rPr>
              <a:t>标定与长期稳定性验证，持续改进绿色、安全、高效的家庭物联网方案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>
            <a:off x="0" y="2190600"/>
            <a:ext cx="12190680" cy="95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4800" b="1" u="none" strike="noStrike">
                <a:solidFill>
                  <a:srgbClr val="F8FBFF"/>
                </a:solidFill>
                <a:effectLst/>
                <a:uFillTx/>
                <a:latin typeface="Microsoft JhengHei UI"/>
                <a:ea typeface="Microsoft JhengHei UI"/>
              </a:rPr>
              <a:t>谢谢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4905360" y="3429000"/>
            <a:ext cx="2379960" cy="46080"/>
          </a:xfrm>
          <a:prstGeom prst="rect">
            <a:avLst/>
          </a:prstGeom>
          <a:solidFill>
            <a:srgbClr val="16B7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3857760"/>
            <a:ext cx="1219068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zh-CN" sz="2100" b="0" u="none" strike="noStrike">
                <a:solidFill>
                  <a:srgbClr val="6EE7B7"/>
                </a:solidFill>
                <a:effectLst/>
                <a:uFillTx/>
                <a:latin typeface="Microsoft JhengHei UI"/>
                <a:ea typeface="Microsoft JhengHei UI"/>
              </a:rPr>
              <a:t>感谢指导与聆听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2026-09-06T08:04:32Z</dcterms:created>
  <dc:creator>Walnut Exporter</dc:creator>
  <dc:description/>
  <dc:language>zh-CN</dc:language>
  <cp:lastModifiedBy/>
  <dcterms:modified xsi:type="dcterms:W3CDTF">2026-09-06T20:20:43Z</dcterms:modified>
  <cp:revision>4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