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单击以移动幻灯片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点击编辑备注格式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CD25A7A-2334-4FDE-970E-1F198A0DA50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成员与分工为可编辑占位项，请在汇报前替换。开发板照片来自仓库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doc/pic/M1.jpg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实习目的概括为专业能力、应用价值、职业素养、工程伦理和团队沟通五个方面。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三个阶段依次对应环境搭建、官方案例与智能红绿灯综合训练、环境监测自主项目。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烧录截图来自仓库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doc/pic/1660634596327.png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核心板照片来自仓库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doc/pic/hisaprk_link.jpg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数据链路依据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src/applications/environment_monitor/device/environment_cloud.c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测试数量来自当前自动化测试结果。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场景与边界依据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PROJECT_DOCUMENT.md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架构依据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PROJECT_DOCUMENT.md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与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device/web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源码。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开发板照片来自仓库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doc/pic/M1.jpg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；同一真实硬件在不同主题页再次出现，用于说明设备端功能。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趋势为结构示意，不代表真实测量数据。告警规则依据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backend/store.mjs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项测试由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个设备配置测试和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个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后端测试组成；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333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为当前云端固件构建步骤数。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本页结合实际开发经历，从技术能力、问题分析、团队表达和工程伦理四个方面总结。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致谢页。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480960"/>
            <a:ext cx="10972080" cy="73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3297960"/>
            <a:ext cx="10972080" cy="59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543960"/>
            <a:ext cx="109720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单击以编辑标题文本格式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点击以编辑提纲文本格式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第三提纲级别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第四提纲级别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246960" cy="68572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723960" y="819000"/>
            <a:ext cx="7238160" cy="14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实习学习总结与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家庭环境监测系统实践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762120" y="2428920"/>
            <a:ext cx="72381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OpenHarmony · Hi3861 · MQTT · </a:t>
            </a:r>
            <a:r>
              <a:rPr lang="zh-CN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华为云 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8458200" y="457200"/>
            <a:ext cx="3142440" cy="4475880"/>
          </a:xfrm>
          <a:prstGeom prst="roundRect">
            <a:avLst>
              <a:gd name="adj" fmla="val 3636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723960" y="3600000"/>
            <a:ext cx="7085880" cy="2400120"/>
          </a:xfrm>
          <a:prstGeom prst="roundRect">
            <a:avLst>
              <a:gd name="adj" fmla="val 5634"/>
            </a:avLst>
          </a:prstGeom>
          <a:solidFill>
            <a:srgbClr val="102E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Calibri"/>
              </a:rPr>
              <a:t>	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1080000" y="3816360"/>
            <a:ext cx="64764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成员：古佳乐  乐相宜 张石香 滕汶希 胡永宁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" name=""/>
          <p:cNvPicPr/>
          <p:nvPr/>
        </p:nvPicPr>
        <p:blipFill>
          <a:blip r:embed="rId2"/>
          <a:srcRect l="0" t="5514" r="0" b="0"/>
          <a:stretch/>
        </p:blipFill>
        <p:spPr>
          <a:xfrm>
            <a:off x="900000" y="4259880"/>
            <a:ext cx="6660000" cy="1680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实习目的：从技术学习到工程责任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4809960" y="2714760"/>
            <a:ext cx="2571120" cy="114228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4924440" y="2838600"/>
            <a:ext cx="2342520" cy="93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鸿蒙物联网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工程实践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905040" y="1571760"/>
            <a:ext cx="2856960" cy="904320"/>
          </a:xfrm>
          <a:prstGeom prst="roundRect">
            <a:avLst>
              <a:gd name="adj" fmla="val 842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1019160" y="1695600"/>
            <a:ext cx="26283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专业与方案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3238560" y="1685880"/>
            <a:ext cx="4280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1038240" y="2028960"/>
            <a:ext cx="2571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开发技术、调研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需求分析与方案设计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8286840" y="1571760"/>
            <a:ext cx="2856960" cy="904320"/>
          </a:xfrm>
          <a:prstGeom prst="roundRect">
            <a:avLst>
              <a:gd name="adj" fmla="val 8421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8400960" y="1695600"/>
            <a:ext cx="26283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价值与发展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10620360" y="1685880"/>
            <a:ext cx="4280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8420040" y="2028960"/>
            <a:ext cx="2571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理解应用价值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绿色、安全、高效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666720" y="4238640"/>
            <a:ext cx="2856960" cy="904320"/>
          </a:xfrm>
          <a:prstGeom prst="roundRect">
            <a:avLst>
              <a:gd name="adj" fmla="val 8421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781200" y="4362480"/>
            <a:ext cx="26283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实践与素养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3000240" y="4352760"/>
            <a:ext cx="4280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800280" y="4695840"/>
            <a:ext cx="2571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提升实操与抗压能力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恪守诚信和工程规范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8667720" y="4238640"/>
            <a:ext cx="2856960" cy="90432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8782200" y="4362480"/>
            <a:ext cx="26283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伦理与责任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1001240" y="4352760"/>
            <a:ext cx="4280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8801280" y="4695840"/>
            <a:ext cx="2571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保护公众利益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遵循安全规范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4809960" y="5000760"/>
            <a:ext cx="2856960" cy="904320"/>
          </a:xfrm>
          <a:prstGeom prst="roundRect">
            <a:avLst>
              <a:gd name="adj" fmla="val 842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924440" y="5124600"/>
            <a:ext cx="26283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协作与表达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7143840" y="5114880"/>
            <a:ext cx="4280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4943520" y="5457960"/>
            <a:ext cx="2571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团队沟通、文档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汇报、陈述与答疑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三阶段实习内容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685800" y="1666800"/>
            <a:ext cx="3332880" cy="3332880"/>
          </a:xfrm>
          <a:prstGeom prst="roundRect">
            <a:avLst>
              <a:gd name="adj" fmla="val 228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923760" y="1857240"/>
            <a:ext cx="66600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923760" y="2523960"/>
            <a:ext cx="27615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第一阶段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923760" y="3048120"/>
            <a:ext cx="2761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环境搭建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923760" y="3762360"/>
            <a:ext cx="276156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开发环境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工程结构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编译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烧录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串口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4038480" y="3000240"/>
            <a:ext cx="39924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8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4448160" y="1666800"/>
            <a:ext cx="3332880" cy="3332880"/>
          </a:xfrm>
          <a:prstGeom prst="roundRect">
            <a:avLst>
              <a:gd name="adj" fmla="val 228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4686480" y="1857240"/>
            <a:ext cx="66600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4686480" y="2523960"/>
            <a:ext cx="27615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第二阶段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686480" y="3048120"/>
            <a:ext cx="2761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案例与综合训练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4686480" y="3762360"/>
            <a:ext cx="276156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官方案例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外设驱动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综合项目：智能红绿灯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7800840" y="3000240"/>
            <a:ext cx="39924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8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8210520" y="1666800"/>
            <a:ext cx="3332880" cy="3332880"/>
          </a:xfrm>
          <a:prstGeom prst="roundRect">
            <a:avLst>
              <a:gd name="adj" fmla="val 2286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8448840" y="1857240"/>
            <a:ext cx="66600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8448840" y="2523960"/>
            <a:ext cx="27615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第三阶段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8448840" y="3048120"/>
            <a:ext cx="2761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自主项目实践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8448840" y="3762360"/>
            <a:ext cx="276156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需求设计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端云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联调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家庭环境监测系统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1809720" y="5524560"/>
            <a:ext cx="85719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先建立可复现环境，再通过案例训练，最终完成自主设计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OpenHarmony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工程与构建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666720" y="1600560"/>
            <a:ext cx="6666840" cy="3846600"/>
          </a:xfrm>
          <a:prstGeom prst="roundRect">
            <a:avLst>
              <a:gd name="adj" fmla="val 266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7905600" y="1476360"/>
            <a:ext cx="285696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0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代码组织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7905600" y="2000160"/>
            <a:ext cx="3332880" cy="13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BUILD.gn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描述目标与依赖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hb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驱动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GN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和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Ninja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构建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固件烧录后通过串口观察运行状态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7905600" y="3828960"/>
            <a:ext cx="856440" cy="589680"/>
          </a:xfrm>
          <a:prstGeom prst="roundRect">
            <a:avLst>
              <a:gd name="adj" fmla="val 12903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8020080" y="3952800"/>
            <a:ext cx="6278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源码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9220320" y="3828960"/>
            <a:ext cx="856440" cy="589680"/>
          </a:xfrm>
          <a:prstGeom prst="roundRect">
            <a:avLst>
              <a:gd name="adj" fmla="val 12903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9334440" y="3952800"/>
            <a:ext cx="6278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GN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0534680" y="3828960"/>
            <a:ext cx="856440" cy="589680"/>
          </a:xfrm>
          <a:prstGeom prst="roundRect">
            <a:avLst>
              <a:gd name="adj" fmla="val 12903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0648800" y="3952800"/>
            <a:ext cx="6278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固件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" name=""/>
          <p:cNvCxnSpPr>
            <a:stCxn id="75" idx="1"/>
            <a:endCxn id="73" idx="3"/>
          </p:cNvCxnSpPr>
          <p:nvPr/>
        </p:nvCxnSpPr>
        <p:spPr>
          <a:xfrm flipH="1">
            <a:off x="10076760" y="4123800"/>
            <a:ext cx="45828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78" name=""/>
          <p:cNvSpPr/>
          <p:nvPr/>
        </p:nvSpPr>
        <p:spPr>
          <a:xfrm>
            <a:off x="7905600" y="4952880"/>
            <a:ext cx="333288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理解构建链，才能定位“头文件找不到”和链接失败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板级外设协同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619200" y="1380960"/>
            <a:ext cx="3904560" cy="4761720"/>
          </a:xfrm>
          <a:prstGeom prst="roundRect">
            <a:avLst>
              <a:gd name="adj" fmla="val 292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7334280" y="2952720"/>
            <a:ext cx="1618560" cy="95184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7448400" y="3076560"/>
            <a:ext cx="138996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Hi3861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5095800" y="1762200"/>
            <a:ext cx="1428120" cy="742320"/>
          </a:xfrm>
          <a:prstGeom prst="roundRect">
            <a:avLst>
              <a:gd name="adj" fmla="val 10256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5210280" y="1886040"/>
            <a:ext cx="1199520" cy="53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AHT20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I2C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5095800" y="4572000"/>
            <a:ext cx="1428120" cy="742320"/>
          </a:xfrm>
          <a:prstGeom prst="roundRect">
            <a:avLst>
              <a:gd name="adj" fmla="val 10256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210280" y="4695840"/>
            <a:ext cx="1199520" cy="53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MQ-2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ADC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9810720" y="1762200"/>
            <a:ext cx="1428120" cy="742320"/>
          </a:xfrm>
          <a:prstGeom prst="roundRect">
            <a:avLst>
              <a:gd name="adj" fmla="val 1025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9925200" y="1886040"/>
            <a:ext cx="1199520" cy="53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OLED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I2C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9810720" y="4572000"/>
            <a:ext cx="1428120" cy="742320"/>
          </a:xfrm>
          <a:prstGeom prst="roundRect">
            <a:avLst>
              <a:gd name="adj" fmla="val 10256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9925200" y="4695840"/>
            <a:ext cx="1199520" cy="53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蜂鸣器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PWM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" name=""/>
          <p:cNvCxnSpPr>
            <a:stCxn id="83" idx="1"/>
            <a:endCxn id="85" idx="3"/>
          </p:cNvCxnSpPr>
          <p:nvPr/>
        </p:nvCxnSpPr>
        <p:spPr>
          <a:xfrm flipH="1" flipV="1">
            <a:off x="6523920" y="2133360"/>
            <a:ext cx="810720" cy="129564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94" name=""/>
          <p:cNvCxnSpPr>
            <a:stCxn id="83" idx="1"/>
            <a:endCxn id="87" idx="3"/>
          </p:cNvCxnSpPr>
          <p:nvPr/>
        </p:nvCxnSpPr>
        <p:spPr>
          <a:xfrm flipH="1">
            <a:off x="6523920" y="3428640"/>
            <a:ext cx="810720" cy="151488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95" name=""/>
          <p:cNvCxnSpPr>
            <a:stCxn id="89" idx="1"/>
            <a:endCxn id="83" idx="3"/>
          </p:cNvCxnSpPr>
          <p:nvPr/>
        </p:nvCxnSpPr>
        <p:spPr>
          <a:xfrm flipH="1">
            <a:off x="8952840" y="2133360"/>
            <a:ext cx="858240" cy="129564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96" name=""/>
          <p:cNvCxnSpPr>
            <a:stCxn id="91" idx="1"/>
            <a:endCxn id="83" idx="3"/>
          </p:cNvCxnSpPr>
          <p:nvPr/>
        </p:nvCxnSpPr>
        <p:spPr>
          <a:xfrm flipH="1" flipV="1">
            <a:off x="8952840" y="3428640"/>
            <a:ext cx="858240" cy="151488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97" name=""/>
          <p:cNvSpPr/>
          <p:nvPr/>
        </p:nvSpPr>
        <p:spPr>
          <a:xfrm>
            <a:off x="5095800" y="5619600"/>
            <a:ext cx="161856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传感器输入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9667800" y="5619600"/>
            <a:ext cx="171396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执行器输出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MQTT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与云平台连接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685800" y="2428920"/>
            <a:ext cx="1618560" cy="856440"/>
          </a:xfrm>
          <a:prstGeom prst="roundRect">
            <a:avLst>
              <a:gd name="adj" fmla="val 8889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800280" y="2552760"/>
            <a:ext cx="138996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设备采集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2762280" y="2428920"/>
            <a:ext cx="1618560" cy="856440"/>
          </a:xfrm>
          <a:prstGeom prst="roundRect">
            <a:avLst>
              <a:gd name="adj" fmla="val 8889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2876400" y="2552760"/>
            <a:ext cx="138996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MQTTS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TLS 1.2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838760" y="2428920"/>
            <a:ext cx="1618560" cy="856440"/>
          </a:xfrm>
          <a:prstGeom prst="roundRect">
            <a:avLst>
              <a:gd name="adj" fmla="val 8889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952880" y="2552760"/>
            <a:ext cx="138996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华为云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6915240" y="2428920"/>
            <a:ext cx="1618560" cy="856440"/>
          </a:xfrm>
          <a:prstGeom prst="roundRect">
            <a:avLst>
              <a:gd name="adj" fmla="val 8889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7029360" y="2552760"/>
            <a:ext cx="138996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设备影子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8991720" y="2428920"/>
            <a:ext cx="1618560" cy="856440"/>
          </a:xfrm>
          <a:prstGeom prst="roundRect">
            <a:avLst>
              <a:gd name="adj" fmla="val 8889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9105840" y="2552760"/>
            <a:ext cx="138996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后端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2" name=""/>
          <p:cNvCxnSpPr>
            <a:stCxn id="104" idx="1"/>
            <a:endCxn id="102" idx="3"/>
          </p:cNvCxnSpPr>
          <p:nvPr/>
        </p:nvCxnSpPr>
        <p:spPr>
          <a:xfrm flipH="1">
            <a:off x="2304360" y="2857320"/>
            <a:ext cx="45828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3" name=""/>
          <p:cNvCxnSpPr>
            <a:stCxn id="106" idx="1"/>
            <a:endCxn id="104" idx="3"/>
          </p:cNvCxnSpPr>
          <p:nvPr/>
        </p:nvCxnSpPr>
        <p:spPr>
          <a:xfrm flipH="1">
            <a:off x="4380840" y="2857320"/>
            <a:ext cx="45828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4" name=""/>
          <p:cNvCxnSpPr>
            <a:stCxn id="108" idx="1"/>
            <a:endCxn id="106" idx="3"/>
          </p:cNvCxnSpPr>
          <p:nvPr/>
        </p:nvCxnSpPr>
        <p:spPr>
          <a:xfrm flipH="1">
            <a:off x="6457320" y="2857320"/>
            <a:ext cx="45828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5" name=""/>
          <p:cNvCxnSpPr>
            <a:stCxn id="110" idx="1"/>
            <a:endCxn id="108" idx="3"/>
          </p:cNvCxnSpPr>
          <p:nvPr/>
        </p:nvCxnSpPr>
        <p:spPr>
          <a:xfrm flipH="1">
            <a:off x="8533800" y="2857320"/>
            <a:ext cx="45828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116" name=""/>
          <p:cNvSpPr/>
          <p:nvPr/>
        </p:nvSpPr>
        <p:spPr>
          <a:xfrm>
            <a:off x="2714760" y="1666800"/>
            <a:ext cx="39045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Client ID + Device ID +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派生密码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3286080" y="3619440"/>
            <a:ext cx="22852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QoS 1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属性上报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685800" y="4952880"/>
            <a:ext cx="61905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失败后按 </a:t>
            </a:r>
            <a:r>
              <a:rPr lang="en-US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2 / 4 / 8 / 16 / 32 </a:t>
            </a: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秒重试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85800" y="5477040"/>
            <a:ext cx="619056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串口返回码帮助区分网络、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TLS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与鉴权问题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调试方法与问题定位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743040" y="1523880"/>
            <a:ext cx="4946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1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628560" y="1476360"/>
            <a:ext cx="608760" cy="60876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1619280" y="1504800"/>
            <a:ext cx="2189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配置生成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4095720" y="1523880"/>
            <a:ext cx="68572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检查地址、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Client ID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、密码格式和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CA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905040" y="2114640"/>
            <a:ext cx="37440" cy="55188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720" tIns="45000" rIns="1872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743040" y="2714760"/>
            <a:ext cx="4946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2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28560" y="2666880"/>
            <a:ext cx="608760" cy="60876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1619280" y="2695680"/>
            <a:ext cx="2189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串口日志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4095720" y="2714760"/>
            <a:ext cx="68572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SCANFINISH / CONNECTED / MQTT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返回码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905040" y="3305160"/>
            <a:ext cx="37440" cy="55188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720" tIns="45000" rIns="1872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743040" y="3905280"/>
            <a:ext cx="4946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3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628560" y="3857760"/>
            <a:ext cx="608760" cy="60876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1619280" y="3886200"/>
            <a:ext cx="2189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分层判断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4095720" y="3905280"/>
            <a:ext cx="68572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Wi-Fi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NTP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TLS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MQTT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鉴权逐层排查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905040" y="4495680"/>
            <a:ext cx="37440" cy="55188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720" tIns="45000" rIns="1872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743040" y="5095800"/>
            <a:ext cx="4946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4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28560" y="5048280"/>
            <a:ext cx="608760" cy="608760"/>
          </a:xfrm>
          <a:prstGeom prst="roundRect">
            <a:avLst>
              <a:gd name="adj" fmla="val 12500"/>
            </a:avLst>
          </a:prstGeom>
          <a:solidFill>
            <a:srgbClr val="6EE7B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1619280" y="5076720"/>
            <a:ext cx="2189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构建验证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4095720" y="5095800"/>
            <a:ext cx="68572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设备测试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8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项，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测试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9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项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实践选题：家庭环境安全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619200" y="1380960"/>
            <a:ext cx="7047720" cy="4475880"/>
          </a:xfrm>
          <a:prstGeom prst="roundRect">
            <a:avLst>
              <a:gd name="adj" fmla="val 1702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952560" y="1714680"/>
            <a:ext cx="2189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家中现场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952560" y="2286000"/>
            <a:ext cx="2856960" cy="81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老人或行动不便者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无需操作即可听到蜂鸣提示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4476600" y="1714680"/>
            <a:ext cx="2189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家人远程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4476600" y="2286000"/>
            <a:ext cx="2666160" cy="81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手机查看趋势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异常时接收 </a:t>
            </a:r>
            <a:r>
              <a:rPr lang="en-US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ntfy </a:t>
            </a: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通知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952560" y="3666960"/>
            <a:ext cx="600012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952560" y="4000680"/>
            <a:ext cx="15231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重点监测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952560" y="4476600"/>
            <a:ext cx="53334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温度　湿度　燃气传感器电阻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8096400" y="1380960"/>
            <a:ext cx="3380760" cy="4475880"/>
          </a:xfrm>
          <a:prstGeom prst="roundRect">
            <a:avLst>
              <a:gd name="adj" fmla="val 2254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8477280" y="1809720"/>
            <a:ext cx="26661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2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双通道提醒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8477280" y="2666880"/>
            <a:ext cx="2571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现场蜂鸣器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8477280" y="3476520"/>
            <a:ext cx="2571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手机推送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8477280" y="4762440"/>
            <a:ext cx="2571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系统用于辅助发现风险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不能替代合规消防报警器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环境监测系统架构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590400" y="2476440"/>
            <a:ext cx="1428120" cy="904320"/>
          </a:xfrm>
          <a:prstGeom prst="roundRect">
            <a:avLst>
              <a:gd name="adj" fmla="val 842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704880" y="2600280"/>
            <a:ext cx="119952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AHT20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MQ-2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2571840" y="2333520"/>
            <a:ext cx="1951920" cy="1189800"/>
          </a:xfrm>
          <a:prstGeom prst="roundRect">
            <a:avLst>
              <a:gd name="adj" fmla="val 6400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2685960" y="2457360"/>
            <a:ext cx="172332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Hi3861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OLED + </a:t>
            </a: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蜂鸣器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5191200" y="2476440"/>
            <a:ext cx="1475640" cy="904320"/>
          </a:xfrm>
          <a:prstGeom prst="roundRect">
            <a:avLst>
              <a:gd name="adj" fmla="val 842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5305320" y="2600280"/>
            <a:ext cx="124704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7334280" y="2333520"/>
            <a:ext cx="1809000" cy="1189800"/>
          </a:xfrm>
          <a:prstGeom prst="roundRect">
            <a:avLst>
              <a:gd name="adj" fmla="val 6400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7448400" y="2457360"/>
            <a:ext cx="15804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Node.js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SQLite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9810720" y="2476440"/>
            <a:ext cx="1666080" cy="90432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9925200" y="2600280"/>
            <a:ext cx="143748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Web + ntfy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1" name=""/>
          <p:cNvCxnSpPr>
            <a:stCxn id="163" idx="1"/>
            <a:endCxn id="161" idx="3"/>
          </p:cNvCxnSpPr>
          <p:nvPr/>
        </p:nvCxnSpPr>
        <p:spPr>
          <a:xfrm flipH="1">
            <a:off x="2018520" y="2928600"/>
            <a:ext cx="55368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72" name=""/>
          <p:cNvCxnSpPr>
            <a:stCxn id="165" idx="1"/>
            <a:endCxn id="163" idx="3"/>
          </p:cNvCxnSpPr>
          <p:nvPr/>
        </p:nvCxnSpPr>
        <p:spPr>
          <a:xfrm flipH="1">
            <a:off x="4523760" y="2928600"/>
            <a:ext cx="66780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73" name=""/>
          <p:cNvCxnSpPr>
            <a:stCxn id="167" idx="1"/>
            <a:endCxn id="165" idx="3"/>
          </p:cNvCxnSpPr>
          <p:nvPr/>
        </p:nvCxnSpPr>
        <p:spPr>
          <a:xfrm flipH="1">
            <a:off x="6666840" y="2928600"/>
            <a:ext cx="66780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74" name=""/>
          <p:cNvCxnSpPr>
            <a:stCxn id="169" idx="1"/>
            <a:endCxn id="167" idx="3"/>
          </p:cNvCxnSpPr>
          <p:nvPr/>
        </p:nvCxnSpPr>
        <p:spPr>
          <a:xfrm flipH="1">
            <a:off x="9143280" y="2928600"/>
            <a:ext cx="66780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175" name=""/>
          <p:cNvSpPr/>
          <p:nvPr/>
        </p:nvSpPr>
        <p:spPr>
          <a:xfrm>
            <a:off x="2419200" y="4000680"/>
            <a:ext cx="18090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本地链路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2095560" y="4429080"/>
            <a:ext cx="25711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断网仍能显示与蜂鸣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7524720" y="4000680"/>
            <a:ext cx="18090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远程链路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6953400" y="4429080"/>
            <a:ext cx="31424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历史、阈值、告警和手机通知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2523960" y="5477040"/>
            <a:ext cx="723816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 </a:t>
            </a:r>
            <a:r>
              <a:rPr lang="en-US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30 </a:t>
            </a: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秒上报　后端 </a:t>
            </a:r>
            <a:r>
              <a:rPr lang="en-US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10 </a:t>
            </a: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秒轮询　浏览器 </a:t>
            </a:r>
            <a:r>
              <a:rPr lang="en-US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5 </a:t>
            </a: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秒刷新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设备端：采集、显示与报警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609480" y="1333440"/>
            <a:ext cx="4761720" cy="4761720"/>
          </a:xfrm>
          <a:prstGeom prst="roundRect">
            <a:avLst>
              <a:gd name="adj" fmla="val 240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6095880" y="1476360"/>
            <a:ext cx="21898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温湿度异常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6095880" y="1952640"/>
            <a:ext cx="4475880" cy="170640"/>
          </a:xfrm>
          <a:prstGeom prst="roundRect">
            <a:avLst>
              <a:gd name="adj" fmla="val 44444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10667880" y="1857240"/>
            <a:ext cx="95184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单次长声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6095880" y="2714760"/>
            <a:ext cx="21898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燃气异常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6095880" y="3219480"/>
            <a:ext cx="856440" cy="17064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7286760" y="3219480"/>
            <a:ext cx="856440" cy="17064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8477280" y="3219480"/>
            <a:ext cx="856440" cy="17064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9810720" y="3095640"/>
            <a:ext cx="12376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三短声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6095880" y="4191120"/>
            <a:ext cx="19044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安全策略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6095880" y="4667400"/>
            <a:ext cx="4761720" cy="10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燃气告警默认关闭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完成预热与标定后再启用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无效读数不触发报警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端：数据、阈值与通知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619200" y="1380960"/>
            <a:ext cx="6761880" cy="4095000"/>
          </a:xfrm>
          <a:prstGeom prst="roundRect">
            <a:avLst>
              <a:gd name="adj" fmla="val 1860"/>
            </a:avLst>
          </a:prstGeom>
          <a:solidFill>
            <a:srgbClr val="F3F8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905040" y="1619280"/>
            <a:ext cx="22852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温度趋势示意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1047600" y="4952880"/>
            <a:ext cx="5809680" cy="1836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1047600" y="2238480"/>
            <a:ext cx="18360" cy="271404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360" tIns="45000" rIns="93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 flipV="1">
            <a:off x="1142640" y="4000320"/>
            <a:ext cx="952560" cy="33336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2095200" y="4000320"/>
            <a:ext cx="952560" cy="23796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 flipV="1">
            <a:off x="3047760" y="3190680"/>
            <a:ext cx="952560" cy="104760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 flipV="1">
            <a:off x="4000320" y="2619360"/>
            <a:ext cx="952560" cy="57132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4952880" y="2619360"/>
            <a:ext cx="952560" cy="28548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 flipV="1">
            <a:off x="5905440" y="2095200"/>
            <a:ext cx="857160" cy="80964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1047600" y="2857680"/>
            <a:ext cx="5809680" cy="277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5619600" y="2523960"/>
            <a:ext cx="12376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报警上限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7810560" y="1571760"/>
            <a:ext cx="29520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超过阈值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7810560" y="2048040"/>
            <a:ext cx="314244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只在状态变化时记录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恢复缓冲减少反复报警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7810560" y="3286080"/>
            <a:ext cx="29520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通知失败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7810560" y="3762360"/>
            <a:ext cx="314244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SQLite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保存待发事件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按顺序退避重试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7810560" y="5095800"/>
            <a:ext cx="33328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同一 </a:t>
            </a:r>
            <a:r>
              <a:rPr lang="en-US" sz="15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ntfy Topic </a:t>
            </a:r>
            <a:r>
              <a:rPr lang="zh-CN" sz="15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可由本人和多位家人订阅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测试结果与实习收获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857160" y="1571760"/>
            <a:ext cx="2094840" cy="10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17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857160" y="2619360"/>
            <a:ext cx="28569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自动化测试全部通过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476600" y="1571760"/>
            <a:ext cx="2094840" cy="10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333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4476600" y="2619360"/>
            <a:ext cx="28569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步云端固件完整构建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8096400" y="1571760"/>
            <a:ext cx="2094840" cy="10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3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8096400" y="2619360"/>
            <a:ext cx="28569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设备、云、</a:t>
            </a:r>
            <a:r>
              <a:rPr lang="en-US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协同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714240" y="3714840"/>
            <a:ext cx="10572120" cy="2772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714240" y="4191120"/>
            <a:ext cx="428544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我学到的不只是接口调用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714240" y="4809960"/>
            <a:ext cx="990540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更重要的是按数据链路定位问题，区分代码通过、构建通过与真机验证。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714240" y="5715000"/>
            <a:ext cx="990540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下一步：</a:t>
            </a: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MQ-2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标定、稳定联网、端到端家庭告警演练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"/>
          <p:cNvSpPr/>
          <p:nvPr/>
        </p:nvSpPr>
        <p:spPr>
          <a:xfrm>
            <a:off x="609480" y="361800"/>
            <a:ext cx="102862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个人总结：技术、协作与责任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11144160" y="428760"/>
            <a:ext cx="5230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609480" y="981000"/>
            <a:ext cx="10972080" cy="2772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666720" y="1476360"/>
            <a:ext cx="5238000" cy="1809000"/>
          </a:xfrm>
          <a:prstGeom prst="roundRect">
            <a:avLst>
              <a:gd name="adj" fmla="val 421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895320" y="1666800"/>
            <a:ext cx="5230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1571760" y="1666800"/>
            <a:ext cx="3714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技术成长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952560" y="2286000"/>
            <a:ext cx="46188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从单个接口调用，进步到设备、云平台和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全链路实现。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6286680" y="1476360"/>
            <a:ext cx="5238000" cy="1809000"/>
          </a:xfrm>
          <a:prstGeom prst="roundRect">
            <a:avLst>
              <a:gd name="adj" fmla="val 421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6515280" y="1666800"/>
            <a:ext cx="5230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7191360" y="1666800"/>
            <a:ext cx="3714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问题解决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6572160" y="2286000"/>
            <a:ext cx="46188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结合构建信息与串口日志分层定位问题，并用测试验证修复。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666720" y="3809880"/>
            <a:ext cx="5238000" cy="1809000"/>
          </a:xfrm>
          <a:prstGeom prst="roundRect">
            <a:avLst>
              <a:gd name="adj" fmla="val 4211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895320" y="4000680"/>
            <a:ext cx="5230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1571760" y="4000680"/>
            <a:ext cx="3714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团队协作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952560" y="4619520"/>
            <a:ext cx="46188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通过分工、设计文档、技术汇报和答疑，提升沟通与表达能力。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6286680" y="3809880"/>
            <a:ext cx="5238000" cy="1809000"/>
          </a:xfrm>
          <a:prstGeom prst="roundRect">
            <a:avLst>
              <a:gd name="adj" fmla="val 421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6515280" y="4000680"/>
            <a:ext cx="5230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7191360" y="4000680"/>
            <a:ext cx="3714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工程责任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6572160" y="4619520"/>
            <a:ext cx="46188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关注行动不便群体，坚持安全边界、数据诚信与公众利益。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857160" y="5952960"/>
            <a:ext cx="104767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后续：完成 </a:t>
            </a: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MQ-2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标定与长期稳定性验证，持续改进绿色、安全、高效的家庭物联网方案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>
            <a:off x="0" y="2190600"/>
            <a:ext cx="121914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48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谢谢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4905360" y="3429000"/>
            <a:ext cx="2380680" cy="468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520" rIns="90000" bIns="25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3857760"/>
            <a:ext cx="1219140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感谢指导与聆听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2026-09-06T08:04:32Z</dcterms:created>
  <dc:creator>Walnut Exporter</dc:creator>
  <dc:description/>
  <dc:language>zh-CN</dc:language>
  <cp:lastModifiedBy/>
  <dcterms:modified xsi:type="dcterms:W3CDTF">2026-09-06T16:46:34Z</dcterms:modified>
  <cp:revision>3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